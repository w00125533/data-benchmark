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"/>
          <p:cNvSpPr txBox="0"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685800" y="876300"/>
            <a:ext cx="78105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Apache Iceberg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04850" y="161925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能力与使用入门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23900" y="226695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给数据平台、数据开发、查询引擎和微服务团队的一份湖仓表格式普及材料</a:t>
            </a:r>
          </a:p>
        </p:txBody>
      </p:sp>
      <p:sp>
        <p:nvSpPr>
          <p:cNvPr id="7" name="Card"/>
          <p:cNvSpPr txBox="0"/>
          <p:nvPr/>
        </p:nvSpPr>
        <p:spPr>
          <a:xfrm>
            <a:off x="742950" y="3467100"/>
            <a:ext cx="2857500" cy="12573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8" name="Accent"/>
          <p:cNvSpPr txBox="0"/>
          <p:nvPr/>
        </p:nvSpPr>
        <p:spPr>
          <a:xfrm>
            <a:off x="742950" y="3467100"/>
            <a:ext cx="57150" cy="12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933450" y="363855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这份材料回答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33450" y="4000500"/>
            <a:ext cx="247650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Iceberg 到底解决什么问题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它如何支撑并发、回滚、演进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生产使用时应怎样维护</a:t>
            </a:r>
          </a:p>
        </p:txBody>
      </p:sp>
      <p:sp>
        <p:nvSpPr>
          <p:cNvPr id="11" name="Card"/>
          <p:cNvSpPr txBox="0"/>
          <p:nvPr/>
        </p:nvSpPr>
        <p:spPr>
          <a:xfrm>
            <a:off x="3962400" y="3467100"/>
            <a:ext cx="2857500" cy="12573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2" name="Accent"/>
          <p:cNvSpPr txBox="0"/>
          <p:nvPr/>
        </p:nvSpPr>
        <p:spPr>
          <a:xfrm>
            <a:off x="3962400" y="3467100"/>
            <a:ext cx="57150" cy="12573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4152900" y="363855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适合对象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152900" y="4000500"/>
            <a:ext cx="247650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数据工程与平台同学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BI / 分析引擎使用者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需要读写湖仓数据的微服务</a:t>
            </a:r>
          </a:p>
        </p:txBody>
      </p:sp>
      <p:sp>
        <p:nvSpPr>
          <p:cNvPr id="15" name="Card"/>
          <p:cNvSpPr txBox="0"/>
          <p:nvPr/>
        </p:nvSpPr>
        <p:spPr>
          <a:xfrm>
            <a:off x="7181850" y="3467100"/>
            <a:ext cx="2857500" cy="12573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6" name="Accent"/>
          <p:cNvSpPr txBox="0"/>
          <p:nvPr/>
        </p:nvSpPr>
        <p:spPr>
          <a:xfrm>
            <a:off x="7181850" y="3467100"/>
            <a:ext cx="57150" cy="12573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" name="Text"/>
          <p:cNvSpPr txBox="1"/>
          <p:nvPr/>
        </p:nvSpPr>
        <p:spPr>
          <a:xfrm>
            <a:off x="7372350" y="363855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建议时长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372350" y="4000500"/>
            <a:ext cx="2476500" cy="590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27 页，约 45-60 分钟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补充 Flink 与 Hive Catalog 集成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所有内容均可编辑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23900" y="6153150"/>
            <a:ext cx="7810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资料口径：Apache Iceberg 官方文档 1.11.x；结合湖仓生产实践整理。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为什么湖仓需要“表格式”</a:t>
            </a:r>
          </a:p>
        </p:txBody>
      </p:sp>
      <p:sp>
        <p:nvSpPr>
          <p:cNvPr id="21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文件湖不是不能用，而是缺少表级语义后，复杂度会转嫁给每个引擎和每个任务。</a:t>
            </a:r>
          </a:p>
        </p:txBody>
      </p:sp>
      <p:sp>
        <p:nvSpPr>
          <p:cNvPr id="22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23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Card"/>
          <p:cNvSpPr txBox="0"/>
          <p:nvPr/>
        </p:nvSpPr>
        <p:spPr>
          <a:xfrm>
            <a:off x="742950" y="1600200"/>
            <a:ext cx="3105150" cy="24765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5" name="Accent"/>
          <p:cNvSpPr txBox="0"/>
          <p:nvPr/>
        </p:nvSpPr>
        <p:spPr>
          <a:xfrm>
            <a:off x="742950" y="1600200"/>
            <a:ext cx="57150" cy="24765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6" name="Text"/>
          <p:cNvSpPr txBox="1"/>
          <p:nvPr/>
        </p:nvSpPr>
        <p:spPr>
          <a:xfrm>
            <a:off x="933450" y="177165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痛点 1：文件不是表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33450" y="2133600"/>
            <a:ext cx="2724150" cy="1809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Parquet/ORC 只是文件格式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目录、分区、版本靠约定维护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跨引擎读写时容易语义漂移</a:t>
            </a:r>
          </a:p>
        </p:txBody>
      </p:sp>
      <p:sp>
        <p:nvSpPr>
          <p:cNvPr id="28" name="Card"/>
          <p:cNvSpPr txBox="0"/>
          <p:nvPr/>
        </p:nvSpPr>
        <p:spPr>
          <a:xfrm>
            <a:off x="4552950" y="1600200"/>
            <a:ext cx="3105150" cy="24765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9" name="Accent"/>
          <p:cNvSpPr txBox="0"/>
          <p:nvPr/>
        </p:nvSpPr>
        <p:spPr>
          <a:xfrm>
            <a:off x="4552950" y="1600200"/>
            <a:ext cx="57150" cy="24765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" name="Text"/>
          <p:cNvSpPr txBox="1"/>
          <p:nvPr/>
        </p:nvSpPr>
        <p:spPr>
          <a:xfrm>
            <a:off x="4743450" y="177165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痛点 2：修改和并发困难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4743450" y="2133600"/>
            <a:ext cx="2724150" cy="1809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覆盖分区容易误删或漏删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读写并发缺少一致视图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失败任务可能留下半成品文件</a:t>
            </a:r>
          </a:p>
        </p:txBody>
      </p:sp>
      <p:sp>
        <p:nvSpPr>
          <p:cNvPr id="32" name="Card"/>
          <p:cNvSpPr txBox="0"/>
          <p:nvPr/>
        </p:nvSpPr>
        <p:spPr>
          <a:xfrm>
            <a:off x="8362950" y="1600200"/>
            <a:ext cx="3105150" cy="24765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33" name="Accent"/>
          <p:cNvSpPr txBox="0"/>
          <p:nvPr/>
        </p:nvSpPr>
        <p:spPr>
          <a:xfrm>
            <a:off x="8362950" y="1600200"/>
            <a:ext cx="57150" cy="24765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4" name="Text"/>
          <p:cNvSpPr txBox="1"/>
          <p:nvPr/>
        </p:nvSpPr>
        <p:spPr>
          <a:xfrm>
            <a:off x="8553450" y="1771650"/>
            <a:ext cx="27432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痛点 3：长期维护成本高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553450" y="2133600"/>
            <a:ext cx="2724150" cy="1809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小文件越积越多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分区策略不适合新查询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历史版本、审计、回滚不可控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143000" y="4686300"/>
            <a:ext cx="9906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Iceberg 的核心价值：把“散落在对象存储/HDFS 上的一组数据文件”封装成有元数据、有版本、有演进能力的可靠数据表。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Iceberg 解决的问题</a:t>
            </a:r>
          </a:p>
        </p:txBody>
      </p:sp>
      <p:sp>
        <p:nvSpPr>
          <p:cNvPr id="38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它不是新的计算引擎，而是开放的高性能表格式。</a:t>
            </a:r>
          </a:p>
        </p:txBody>
      </p:sp>
      <p:sp>
        <p:nvSpPr>
          <p:cNvPr id="39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40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Rect"/>
          <p:cNvSpPr txBox="0"/>
          <p:nvPr/>
        </p:nvSpPr>
        <p:spPr>
          <a:xfrm>
            <a:off x="876300" y="1657350"/>
            <a:ext cx="2952750" cy="295275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</p:sp>
      <p:sp>
        <p:nvSpPr>
          <p:cNvPr id="42" name="Text"/>
          <p:cNvSpPr txBox="1"/>
          <p:nvPr/>
        </p:nvSpPr>
        <p:spPr>
          <a:xfrm>
            <a:off x="1104900" y="1924050"/>
            <a:ext cx="23812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过去：文件集合</a:t>
            </a:r>
          </a:p>
        </p:txBody>
      </p:sp>
      <p:sp>
        <p:nvSpPr>
          <p:cNvPr id="43" name="Rect"/>
          <p:cNvSpPr txBox="0"/>
          <p:nvPr/>
        </p:nvSpPr>
        <p:spPr>
          <a:xfrm>
            <a:off x="1257300" y="2609850"/>
            <a:ext cx="876300" cy="323850"/>
          </a:xfrm>
          <a:prstGeom prst="rect">
            <a:avLst/>
          </a:prstGeom>
          <a:solidFill>
            <a:srgbClr val="FEF3C7"/>
          </a:solidFill>
          <a:ln w="9525">
            <a:solidFill>
              <a:srgbClr val="D1D5DB"/>
            </a:solidFill>
          </a:ln>
        </p:spPr>
      </p:sp>
      <p:sp>
        <p:nvSpPr>
          <p:cNvPr id="44" name="Rect"/>
          <p:cNvSpPr txBox="0"/>
          <p:nvPr/>
        </p:nvSpPr>
        <p:spPr>
          <a:xfrm>
            <a:off x="2343150" y="2609850"/>
            <a:ext cx="876300" cy="323850"/>
          </a:xfrm>
          <a:prstGeom prst="rect">
            <a:avLst/>
          </a:prstGeom>
          <a:solidFill>
            <a:srgbClr val="E0F2FE"/>
          </a:solidFill>
          <a:ln w="9525">
            <a:solidFill>
              <a:srgbClr val="D1D5DB"/>
            </a:solidFill>
          </a:ln>
        </p:spPr>
      </p:sp>
      <p:sp>
        <p:nvSpPr>
          <p:cNvPr id="45" name="Rect"/>
          <p:cNvSpPr txBox="0"/>
          <p:nvPr/>
        </p:nvSpPr>
        <p:spPr>
          <a:xfrm>
            <a:off x="1257300" y="3124200"/>
            <a:ext cx="876300" cy="323850"/>
          </a:xfrm>
          <a:prstGeom prst="rect">
            <a:avLst/>
          </a:prstGeom>
          <a:solidFill>
            <a:srgbClr val="FEF3C7"/>
          </a:solidFill>
          <a:ln w="9525">
            <a:solidFill>
              <a:srgbClr val="D1D5DB"/>
            </a:solidFill>
          </a:ln>
        </p:spPr>
      </p:sp>
      <p:sp>
        <p:nvSpPr>
          <p:cNvPr id="46" name="Rect"/>
          <p:cNvSpPr txBox="0"/>
          <p:nvPr/>
        </p:nvSpPr>
        <p:spPr>
          <a:xfrm>
            <a:off x="2343150" y="3124200"/>
            <a:ext cx="876300" cy="323850"/>
          </a:xfrm>
          <a:prstGeom prst="rect">
            <a:avLst/>
          </a:prstGeom>
          <a:solidFill>
            <a:srgbClr val="E0F2FE"/>
          </a:solidFill>
          <a:ln w="9525">
            <a:solidFill>
              <a:srgbClr val="D1D5DB"/>
            </a:solidFill>
          </a:ln>
        </p:spPr>
      </p:sp>
      <p:sp>
        <p:nvSpPr>
          <p:cNvPr id="47" name="Rect"/>
          <p:cNvSpPr txBox="0"/>
          <p:nvPr/>
        </p:nvSpPr>
        <p:spPr>
          <a:xfrm>
            <a:off x="1257300" y="3638550"/>
            <a:ext cx="876300" cy="323850"/>
          </a:xfrm>
          <a:prstGeom prst="rect">
            <a:avLst/>
          </a:prstGeom>
          <a:solidFill>
            <a:srgbClr val="FEF3C7"/>
          </a:solidFill>
          <a:ln w="9525">
            <a:solidFill>
              <a:srgbClr val="D1D5DB"/>
            </a:solidFill>
          </a:ln>
        </p:spPr>
      </p:sp>
      <p:sp>
        <p:nvSpPr>
          <p:cNvPr id="48" name="Rect"/>
          <p:cNvSpPr txBox="0"/>
          <p:nvPr/>
        </p:nvSpPr>
        <p:spPr>
          <a:xfrm>
            <a:off x="2343150" y="3638550"/>
            <a:ext cx="876300" cy="323850"/>
          </a:xfrm>
          <a:prstGeom prst="rect">
            <a:avLst/>
          </a:prstGeom>
          <a:solidFill>
            <a:srgbClr val="E0F2FE"/>
          </a:solidFill>
          <a:ln w="9525">
            <a:solidFill>
              <a:srgbClr val="D1D5DB"/>
            </a:solidFill>
          </a:ln>
        </p:spPr>
      </p:sp>
      <p:sp>
        <p:nvSpPr>
          <p:cNvPr id="49" name="Text"/>
          <p:cNvSpPr txBox="1"/>
          <p:nvPr/>
        </p:nvSpPr>
        <p:spPr>
          <a:xfrm>
            <a:off x="990600" y="4362450"/>
            <a:ext cx="27241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靠目录命名和任务约定理解数据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4324350" y="2857500"/>
            <a:ext cx="1143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6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升级为</a:t>
            </a:r>
          </a:p>
        </p:txBody>
      </p:sp>
      <p:sp>
        <p:nvSpPr>
          <p:cNvPr id="51" name="Rect"/>
          <p:cNvSpPr txBox="0"/>
          <p:nvPr/>
        </p:nvSpPr>
        <p:spPr>
          <a:xfrm>
            <a:off x="5962650" y="1657350"/>
            <a:ext cx="5334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52" name="Text"/>
          <p:cNvSpPr txBox="1"/>
          <p:nvPr/>
        </p:nvSpPr>
        <p:spPr>
          <a:xfrm>
            <a:off x="6191250" y="1924050"/>
            <a:ext cx="28575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现在：可靠数据表</a:t>
            </a:r>
          </a:p>
        </p:txBody>
      </p:sp>
      <p:sp>
        <p:nvSpPr>
          <p:cNvPr id="53" name="Pill"/>
          <p:cNvSpPr txBox="0"/>
          <p:nvPr/>
        </p:nvSpPr>
        <p:spPr>
          <a:xfrm>
            <a:off x="6191250" y="2590800"/>
            <a:ext cx="1276350" cy="3429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2563EB"/>
            </a:solidFill>
          </a:ln>
        </p:spPr>
      </p:sp>
      <p:sp>
        <p:nvSpPr>
          <p:cNvPr id="54" name="Text"/>
          <p:cNvSpPr txBox="1"/>
          <p:nvPr/>
        </p:nvSpPr>
        <p:spPr>
          <a:xfrm>
            <a:off x="6267450" y="266700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4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ACID 提交</a:t>
            </a:r>
          </a:p>
        </p:txBody>
      </p:sp>
      <p:sp>
        <p:nvSpPr>
          <p:cNvPr id="55" name="Pill"/>
          <p:cNvSpPr txBox="0"/>
          <p:nvPr/>
        </p:nvSpPr>
        <p:spPr>
          <a:xfrm>
            <a:off x="7715250" y="2590800"/>
            <a:ext cx="1276350" cy="3429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059669"/>
            </a:solidFill>
          </a:ln>
        </p:spPr>
      </p:sp>
      <p:sp>
        <p:nvSpPr>
          <p:cNvPr id="56" name="Text"/>
          <p:cNvSpPr txBox="1"/>
          <p:nvPr/>
        </p:nvSpPr>
        <p:spPr>
          <a:xfrm>
            <a:off x="7791450" y="266700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4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快照版本</a:t>
            </a:r>
          </a:p>
        </p:txBody>
      </p:sp>
      <p:sp>
        <p:nvSpPr>
          <p:cNvPr id="57" name="Pill"/>
          <p:cNvSpPr txBox="0"/>
          <p:nvPr/>
        </p:nvSpPr>
        <p:spPr>
          <a:xfrm>
            <a:off x="9239250" y="2590800"/>
            <a:ext cx="1276350" cy="3429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7C3AED"/>
            </a:solidFill>
          </a:ln>
        </p:spPr>
      </p:sp>
      <p:sp>
        <p:nvSpPr>
          <p:cNvPr id="58" name="Text"/>
          <p:cNvSpPr txBox="1"/>
          <p:nvPr/>
        </p:nvSpPr>
        <p:spPr>
          <a:xfrm>
            <a:off x="9315450" y="266700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4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Schema 演进</a:t>
            </a:r>
          </a:p>
        </p:txBody>
      </p:sp>
      <p:sp>
        <p:nvSpPr>
          <p:cNvPr id="59" name="Pill"/>
          <p:cNvSpPr txBox="0"/>
          <p:nvPr/>
        </p:nvSpPr>
        <p:spPr>
          <a:xfrm>
            <a:off x="6191250" y="3200400"/>
            <a:ext cx="1276350" cy="3429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0891B2"/>
            </a:solidFill>
          </a:ln>
        </p:spPr>
      </p:sp>
      <p:sp>
        <p:nvSpPr>
          <p:cNvPr id="60" name="Text"/>
          <p:cNvSpPr txBox="1"/>
          <p:nvPr/>
        </p:nvSpPr>
        <p:spPr>
          <a:xfrm>
            <a:off x="6267450" y="327660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45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隐藏分区</a:t>
            </a:r>
          </a:p>
        </p:txBody>
      </p:sp>
      <p:sp>
        <p:nvSpPr>
          <p:cNvPr id="61" name="Pill"/>
          <p:cNvSpPr txBox="0"/>
          <p:nvPr/>
        </p:nvSpPr>
        <p:spPr>
          <a:xfrm>
            <a:off x="7715250" y="3200400"/>
            <a:ext cx="1276350" cy="3429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97706"/>
            </a:solidFill>
          </a:ln>
        </p:spPr>
      </p:sp>
      <p:sp>
        <p:nvSpPr>
          <p:cNvPr id="62" name="Text"/>
          <p:cNvSpPr txBox="1"/>
          <p:nvPr/>
        </p:nvSpPr>
        <p:spPr>
          <a:xfrm>
            <a:off x="7791450" y="327660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4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时间旅行</a:t>
            </a:r>
          </a:p>
        </p:txBody>
      </p:sp>
      <p:sp>
        <p:nvSpPr>
          <p:cNvPr id="63" name="Pill"/>
          <p:cNvSpPr txBox="0"/>
          <p:nvPr/>
        </p:nvSpPr>
        <p:spPr>
          <a:xfrm>
            <a:off x="9239250" y="3200400"/>
            <a:ext cx="1276350" cy="3429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C2626"/>
            </a:solidFill>
          </a:ln>
        </p:spPr>
      </p:sp>
      <p:sp>
        <p:nvSpPr>
          <p:cNvPr id="64" name="Text"/>
          <p:cNvSpPr txBox="1"/>
          <p:nvPr/>
        </p:nvSpPr>
        <p:spPr>
          <a:xfrm>
            <a:off x="9315450" y="327660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4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多引擎共享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6191250" y="4038600"/>
            <a:ext cx="447675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7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表级元数据让引擎知道哪些文件属于当前版本，以及如何高效裁剪与读取。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核心心智模型</a:t>
            </a:r>
          </a:p>
        </p:txBody>
      </p:sp>
      <p:sp>
        <p:nvSpPr>
          <p:cNvPr id="67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理解 Catalog、Metadata、Manifest、Data File 四层，就能理解大多数 Iceberg 行为。</a:t>
            </a:r>
          </a:p>
        </p:txBody>
      </p:sp>
      <p:sp>
        <p:nvSpPr>
          <p:cNvPr id="68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69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0" name="Rect"/>
          <p:cNvSpPr txBox="0"/>
          <p:nvPr/>
        </p:nvSpPr>
        <p:spPr>
          <a:xfrm>
            <a:off x="914400" y="1676400"/>
            <a:ext cx="10363200" cy="8191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</p:sp>
      <p:sp>
        <p:nvSpPr>
          <p:cNvPr id="71" name="Text"/>
          <p:cNvSpPr txBox="1"/>
          <p:nvPr/>
        </p:nvSpPr>
        <p:spPr>
          <a:xfrm>
            <a:off x="1181100" y="19240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Catalog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3371850" y="1933575"/>
            <a:ext cx="6953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定位表当前位置：库名、表名、当前 metadata 文件指针</a:t>
            </a:r>
          </a:p>
        </p:txBody>
      </p:sp>
      <p:sp>
        <p:nvSpPr>
          <p:cNvPr id="73" name="Rect"/>
          <p:cNvSpPr txBox="0"/>
          <p:nvPr/>
        </p:nvSpPr>
        <p:spPr>
          <a:xfrm>
            <a:off x="1676400" y="2800350"/>
            <a:ext cx="8839200" cy="81915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74" name="Text"/>
          <p:cNvSpPr txBox="1"/>
          <p:nvPr/>
        </p:nvSpPr>
        <p:spPr>
          <a:xfrm>
            <a:off x="1943100" y="30480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4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Metadata JSON</a:t>
            </a:r>
          </a:p>
        </p:txBody>
      </p:sp>
      <p:sp>
        <p:nvSpPr>
          <p:cNvPr id="75" name="Text"/>
          <p:cNvSpPr txBox="1"/>
          <p:nvPr/>
        </p:nvSpPr>
        <p:spPr>
          <a:xfrm>
            <a:off x="4210050" y="3057525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记录 schema、partition spec、properties、snapshots</a:t>
            </a:r>
          </a:p>
        </p:txBody>
      </p:sp>
      <p:sp>
        <p:nvSpPr>
          <p:cNvPr id="76" name="Rect"/>
          <p:cNvSpPr txBox="0"/>
          <p:nvPr/>
        </p:nvSpPr>
        <p:spPr>
          <a:xfrm>
            <a:off x="2438400" y="3924300"/>
            <a:ext cx="7315200" cy="81915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</p:sp>
      <p:sp>
        <p:nvSpPr>
          <p:cNvPr id="77" name="Text"/>
          <p:cNvSpPr txBox="1"/>
          <p:nvPr/>
        </p:nvSpPr>
        <p:spPr>
          <a:xfrm>
            <a:off x="2705100" y="4171950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Manifest List / Manifest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5181600" y="4181475"/>
            <a:ext cx="39052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索引哪些数据文件可见，并带统计信息</a:t>
            </a:r>
          </a:p>
        </p:txBody>
      </p:sp>
      <p:sp>
        <p:nvSpPr>
          <p:cNvPr id="79" name="Rect"/>
          <p:cNvSpPr txBox="0"/>
          <p:nvPr/>
        </p:nvSpPr>
        <p:spPr>
          <a:xfrm>
            <a:off x="3200400" y="5048250"/>
            <a:ext cx="5791200" cy="647700"/>
          </a:xfrm>
          <a:prstGeom prst="rect">
            <a:avLst/>
          </a:prstGeom>
          <a:solidFill>
            <a:srgbClr val="FDF2F8"/>
          </a:solidFill>
          <a:ln w="9525">
            <a:solidFill>
              <a:srgbClr val="FBCFE8"/>
            </a:solidFill>
          </a:ln>
        </p:spPr>
      </p:sp>
      <p:sp>
        <p:nvSpPr>
          <p:cNvPr id="80" name="Text"/>
          <p:cNvSpPr txBox="1"/>
          <p:nvPr/>
        </p:nvSpPr>
        <p:spPr>
          <a:xfrm>
            <a:off x="3486150" y="5219700"/>
            <a:ext cx="1905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Data Files</a:t>
            </a:r>
          </a:p>
        </p:txBody>
      </p:sp>
      <p:sp>
        <p:nvSpPr>
          <p:cNvPr id="81" name="Text"/>
          <p:cNvSpPr txBox="1"/>
          <p:nvPr/>
        </p:nvSpPr>
        <p:spPr>
          <a:xfrm>
            <a:off x="5581650" y="5229225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9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Parquet / ORC / Avro 等实际数据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快照机制：每次提交形成一个版本</a:t>
            </a:r>
          </a:p>
        </p:txBody>
      </p:sp>
      <p:sp>
        <p:nvSpPr>
          <p:cNvPr id="83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表状态由元数据文件维护；一次成功提交会产生新的快照和新的表状态。</a:t>
            </a:r>
          </a:p>
        </p:txBody>
      </p:sp>
      <p:sp>
        <p:nvSpPr>
          <p:cNvPr id="84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85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6" name="Rect"/>
          <p:cNvSpPr txBox="0"/>
          <p:nvPr/>
        </p:nvSpPr>
        <p:spPr>
          <a:xfrm>
            <a:off x="876300" y="2400300"/>
            <a:ext cx="10439400" cy="38100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87" name="Rect"/>
          <p:cNvSpPr txBox="0"/>
          <p:nvPr/>
        </p:nvSpPr>
        <p:spPr>
          <a:xfrm>
            <a:off x="1066800" y="2000250"/>
            <a:ext cx="1809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</p:sp>
      <p:sp>
        <p:nvSpPr>
          <p:cNvPr id="88" name="Text"/>
          <p:cNvSpPr txBox="1"/>
          <p:nvPr/>
        </p:nvSpPr>
        <p:spPr>
          <a:xfrm>
            <a:off x="1181100" y="217170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Snapshot 101</a:t>
            </a:r>
          </a:p>
        </p:txBody>
      </p:sp>
      <p:sp>
        <p:nvSpPr>
          <p:cNvPr id="89" name="Text"/>
          <p:cNvSpPr txBox="1"/>
          <p:nvPr/>
        </p:nvSpPr>
        <p:spPr>
          <a:xfrm>
            <a:off x="1181100" y="2457450"/>
            <a:ext cx="1581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初始导入</a:t>
            </a:r>
          </a:p>
        </p:txBody>
      </p:sp>
      <p:sp>
        <p:nvSpPr>
          <p:cNvPr id="90" name="Rect"/>
          <p:cNvSpPr txBox="0"/>
          <p:nvPr/>
        </p:nvSpPr>
        <p:spPr>
          <a:xfrm>
            <a:off x="3638550" y="2000250"/>
            <a:ext cx="1809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</p:sp>
      <p:sp>
        <p:nvSpPr>
          <p:cNvPr id="91" name="Text"/>
          <p:cNvSpPr txBox="1"/>
          <p:nvPr/>
        </p:nvSpPr>
        <p:spPr>
          <a:xfrm>
            <a:off x="3752850" y="217170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9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Snapshot 102</a:t>
            </a:r>
          </a:p>
        </p:txBody>
      </p:sp>
      <p:sp>
        <p:nvSpPr>
          <p:cNvPr id="92" name="Text"/>
          <p:cNvSpPr txBox="1"/>
          <p:nvPr/>
        </p:nvSpPr>
        <p:spPr>
          <a:xfrm>
            <a:off x="3752850" y="2457450"/>
            <a:ext cx="1581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追加一天数据</a:t>
            </a:r>
          </a:p>
        </p:txBody>
      </p:sp>
      <p:sp>
        <p:nvSpPr>
          <p:cNvPr id="93" name="Rect"/>
          <p:cNvSpPr txBox="0"/>
          <p:nvPr/>
        </p:nvSpPr>
        <p:spPr>
          <a:xfrm>
            <a:off x="6210300" y="2000250"/>
            <a:ext cx="1809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</p:sp>
      <p:sp>
        <p:nvSpPr>
          <p:cNvPr id="94" name="Text"/>
          <p:cNvSpPr txBox="1"/>
          <p:nvPr/>
        </p:nvSpPr>
        <p:spPr>
          <a:xfrm>
            <a:off x="6324600" y="217170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Snapshot 103</a:t>
            </a:r>
          </a:p>
        </p:txBody>
      </p:sp>
      <p:sp>
        <p:nvSpPr>
          <p:cNvPr id="95" name="Text"/>
          <p:cNvSpPr txBox="1"/>
          <p:nvPr/>
        </p:nvSpPr>
        <p:spPr>
          <a:xfrm>
            <a:off x="6324600" y="2457450"/>
            <a:ext cx="1581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修正异常数据</a:t>
            </a:r>
          </a:p>
        </p:txBody>
      </p:sp>
      <p:sp>
        <p:nvSpPr>
          <p:cNvPr id="96" name="Rect"/>
          <p:cNvSpPr txBox="0"/>
          <p:nvPr/>
        </p:nvSpPr>
        <p:spPr>
          <a:xfrm>
            <a:off x="8782050" y="2000250"/>
            <a:ext cx="180975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</p:sp>
      <p:sp>
        <p:nvSpPr>
          <p:cNvPr id="97" name="Text"/>
          <p:cNvSpPr txBox="1"/>
          <p:nvPr/>
        </p:nvSpPr>
        <p:spPr>
          <a:xfrm>
            <a:off x="8896350" y="217170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9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Snapshot 104</a:t>
            </a:r>
          </a:p>
        </p:txBody>
      </p:sp>
      <p:sp>
        <p:nvSpPr>
          <p:cNvPr id="98" name="Text"/>
          <p:cNvSpPr txBox="1"/>
          <p:nvPr/>
        </p:nvSpPr>
        <p:spPr>
          <a:xfrm>
            <a:off x="8896350" y="2457450"/>
            <a:ext cx="1581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合并更新</a:t>
            </a:r>
          </a:p>
        </p:txBody>
      </p:sp>
      <p:sp>
        <p:nvSpPr>
          <p:cNvPr id="99" name="Card"/>
          <p:cNvSpPr txBox="0"/>
          <p:nvPr/>
        </p:nvSpPr>
        <p:spPr>
          <a:xfrm>
            <a:off x="1143000" y="3676650"/>
            <a:ext cx="2857500" cy="12954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00" name="Accent"/>
          <p:cNvSpPr txBox="0"/>
          <p:nvPr/>
        </p:nvSpPr>
        <p:spPr>
          <a:xfrm>
            <a:off x="1143000" y="3676650"/>
            <a:ext cx="57150" cy="129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1" name="Text"/>
          <p:cNvSpPr txBox="1"/>
          <p:nvPr/>
        </p:nvSpPr>
        <p:spPr>
          <a:xfrm>
            <a:off x="1333500" y="384810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读一致性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1333500" y="4210050"/>
            <a:ext cx="24765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查询绑定到某个快照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读期间不受新提交影响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失败写入不会污染当前表</a:t>
            </a:r>
          </a:p>
        </p:txBody>
      </p:sp>
      <p:sp>
        <p:nvSpPr>
          <p:cNvPr id="103" name="Card"/>
          <p:cNvSpPr txBox="0"/>
          <p:nvPr/>
        </p:nvSpPr>
        <p:spPr>
          <a:xfrm>
            <a:off x="4667250" y="3676650"/>
            <a:ext cx="2857500" cy="12954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04" name="Accent"/>
          <p:cNvSpPr txBox="0"/>
          <p:nvPr/>
        </p:nvSpPr>
        <p:spPr>
          <a:xfrm>
            <a:off x="4667250" y="3676650"/>
            <a:ext cx="57150" cy="129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05" name="Text"/>
          <p:cNvSpPr txBox="1"/>
          <p:nvPr/>
        </p:nvSpPr>
        <p:spPr>
          <a:xfrm>
            <a:off x="4857750" y="384810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回滚能力</a:t>
            </a:r>
          </a:p>
        </p:txBody>
      </p:sp>
      <p:sp>
        <p:nvSpPr>
          <p:cNvPr id="106" name="Text"/>
          <p:cNvSpPr txBox="1"/>
          <p:nvPr/>
        </p:nvSpPr>
        <p:spPr>
          <a:xfrm>
            <a:off x="4857750" y="4210050"/>
            <a:ext cx="24765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可以回到历史 snapshot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适合错误修复和审计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需配合保留策略</a:t>
            </a:r>
          </a:p>
        </p:txBody>
      </p:sp>
      <p:sp>
        <p:nvSpPr>
          <p:cNvPr id="107" name="Card"/>
          <p:cNvSpPr txBox="0"/>
          <p:nvPr/>
        </p:nvSpPr>
        <p:spPr>
          <a:xfrm>
            <a:off x="8191500" y="3676650"/>
            <a:ext cx="2857500" cy="12954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08" name="Accent"/>
          <p:cNvSpPr txBox="0"/>
          <p:nvPr/>
        </p:nvSpPr>
        <p:spPr>
          <a:xfrm>
            <a:off x="8191500" y="3676650"/>
            <a:ext cx="57150" cy="12954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09" name="Text"/>
          <p:cNvSpPr txBox="1"/>
          <p:nvPr/>
        </p:nvSpPr>
        <p:spPr>
          <a:xfrm>
            <a:off x="8382000" y="3848100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时间旅行</a:t>
            </a:r>
          </a:p>
        </p:txBody>
      </p:sp>
      <p:sp>
        <p:nvSpPr>
          <p:cNvPr id="110" name="Text"/>
          <p:cNvSpPr txBox="1"/>
          <p:nvPr/>
        </p:nvSpPr>
        <p:spPr>
          <a:xfrm>
            <a:off x="8382000" y="4210050"/>
            <a:ext cx="247650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按版本或时间读取历史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用于对账、排障、复现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历史可用性取决于 snapshot 保留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ACID 与并发：表指针的原子切换</a:t>
            </a:r>
          </a:p>
        </p:txBody>
      </p:sp>
      <p:sp>
        <p:nvSpPr>
          <p:cNvPr id="112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将写入拆成“生成新文件 + 生成新元数据 + 原子提交表指针”。</a:t>
            </a:r>
          </a:p>
        </p:txBody>
      </p:sp>
      <p:sp>
        <p:nvSpPr>
          <p:cNvPr id="113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14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15" name="Rect"/>
          <p:cNvSpPr txBox="0"/>
          <p:nvPr/>
        </p:nvSpPr>
        <p:spPr>
          <a:xfrm>
            <a:off x="1028700" y="1809750"/>
            <a:ext cx="2286000" cy="28575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</p:sp>
      <p:sp>
        <p:nvSpPr>
          <p:cNvPr id="116" name="Text"/>
          <p:cNvSpPr txBox="1"/>
          <p:nvPr/>
        </p:nvSpPr>
        <p:spPr>
          <a:xfrm>
            <a:off x="1257300" y="209550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Writer A</a:t>
            </a:r>
          </a:p>
        </p:txBody>
      </p:sp>
      <p:sp>
        <p:nvSpPr>
          <p:cNvPr id="117" name="Text"/>
          <p:cNvSpPr txBox="1"/>
          <p:nvPr/>
        </p:nvSpPr>
        <p:spPr>
          <a:xfrm>
            <a:off x="1257300" y="2724150"/>
            <a:ext cx="1809750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写新数据文件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生成 manifest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提交新 metadata</a:t>
            </a:r>
          </a:p>
        </p:txBody>
      </p:sp>
      <p:sp>
        <p:nvSpPr>
          <p:cNvPr id="118" name="Rect"/>
          <p:cNvSpPr txBox="0"/>
          <p:nvPr/>
        </p:nvSpPr>
        <p:spPr>
          <a:xfrm>
            <a:off x="4953000" y="1524000"/>
            <a:ext cx="2286000" cy="34290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</p:sp>
      <p:sp>
        <p:nvSpPr>
          <p:cNvPr id="119" name="Text"/>
          <p:cNvSpPr txBox="1"/>
          <p:nvPr/>
        </p:nvSpPr>
        <p:spPr>
          <a:xfrm>
            <a:off x="5219700" y="1962150"/>
            <a:ext cx="17526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Catalog</a:t>
            </a:r>
          </a:p>
        </p:txBody>
      </p:sp>
      <p:sp>
        <p:nvSpPr>
          <p:cNvPr id="120" name="Text"/>
          <p:cNvSpPr txBox="1"/>
          <p:nvPr/>
        </p:nvSpPr>
        <p:spPr>
          <a:xfrm>
            <a:off x="5219700" y="2724150"/>
            <a:ext cx="1752600" cy="704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1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只保存当前表元数据的位置</a:t>
            </a:r>
          </a:p>
        </p:txBody>
      </p:sp>
      <p:sp>
        <p:nvSpPr>
          <p:cNvPr id="121" name="Pill"/>
          <p:cNvSpPr txBox="0"/>
          <p:nvPr/>
        </p:nvSpPr>
        <p:spPr>
          <a:xfrm>
            <a:off x="5314950" y="3714750"/>
            <a:ext cx="1562100" cy="3429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2563EB"/>
            </a:solidFill>
          </a:ln>
        </p:spPr>
      </p:sp>
      <p:sp>
        <p:nvSpPr>
          <p:cNvPr id="122" name="Text"/>
          <p:cNvSpPr txBox="1"/>
          <p:nvPr/>
        </p:nvSpPr>
        <p:spPr>
          <a:xfrm>
            <a:off x="5391150" y="3790950"/>
            <a:ext cx="14097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4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current metadata</a:t>
            </a:r>
          </a:p>
        </p:txBody>
      </p:sp>
      <p:sp>
        <p:nvSpPr>
          <p:cNvPr id="123" name="Rect"/>
          <p:cNvSpPr txBox="0"/>
          <p:nvPr/>
        </p:nvSpPr>
        <p:spPr>
          <a:xfrm>
            <a:off x="8877300" y="1809750"/>
            <a:ext cx="2286000" cy="28575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124" name="Text"/>
          <p:cNvSpPr txBox="1"/>
          <p:nvPr/>
        </p:nvSpPr>
        <p:spPr>
          <a:xfrm>
            <a:off x="9105900" y="209550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4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Reader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9105900" y="2724150"/>
            <a:ext cx="1809750" cy="742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读取已提交快照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看到一致版本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不扫半成品文件</a:t>
            </a:r>
          </a:p>
        </p:txBody>
      </p:sp>
      <p:sp>
        <p:nvSpPr>
          <p:cNvPr id="126" name="Text"/>
          <p:cNvSpPr txBox="1"/>
          <p:nvPr/>
        </p:nvSpPr>
        <p:spPr>
          <a:xfrm>
            <a:off x="3581400" y="2876550"/>
            <a:ext cx="1123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commit</a:t>
            </a:r>
          </a:p>
        </p:txBody>
      </p:sp>
      <p:sp>
        <p:nvSpPr>
          <p:cNvPr id="127" name="Text"/>
          <p:cNvSpPr txBox="1"/>
          <p:nvPr/>
        </p:nvSpPr>
        <p:spPr>
          <a:xfrm>
            <a:off x="7486650" y="2876550"/>
            <a:ext cx="11239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read</a:t>
            </a:r>
          </a:p>
        </p:txBody>
      </p:sp>
      <p:sp>
        <p:nvSpPr>
          <p:cNvPr id="128" name="Text"/>
          <p:cNvSpPr txBox="1"/>
          <p:nvPr/>
        </p:nvSpPr>
        <p:spPr>
          <a:xfrm>
            <a:off x="1143000" y="5543550"/>
            <a:ext cx="990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要点：Iceberg 的一致性依赖 Catalog 支持原子 compare-and-swap；不同 Catalog 的能力和配置会影响并发可靠性。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隐藏分区：查询写业务字段，系统做分区裁剪</a:t>
            </a:r>
          </a:p>
        </p:txBody>
      </p:sp>
      <p:sp>
        <p:nvSpPr>
          <p:cNvPr id="130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用户不需要知道 physical partition 列；Iceberg 用 partition transform 生成并维护分区值。</a:t>
            </a:r>
          </a:p>
        </p:txBody>
      </p:sp>
      <p:sp>
        <p:nvSpPr>
          <p:cNvPr id="131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32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133" name="Code Block"/>
          <p:cNvSpPr txBox="0"/>
          <p:nvPr/>
        </p:nvSpPr>
        <p:spPr>
          <a:xfrm>
            <a:off x="704850" y="1638300"/>
            <a:ext cx="4953000" cy="19812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34" name="Text"/>
          <p:cNvSpPr txBox="1"/>
          <p:nvPr/>
        </p:nvSpPr>
        <p:spPr>
          <a:xfrm>
            <a:off x="876300" y="1771650"/>
            <a:ext cx="46101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建表时定义分区变换</a:t>
            </a:r>
          </a:p>
        </p:txBody>
      </p:sp>
      <p:sp>
        <p:nvSpPr>
          <p:cNvPr id="135" name="Text"/>
          <p:cNvSpPr txBox="1"/>
          <p:nvPr/>
        </p:nvSpPr>
        <p:spPr>
          <a:xfrm>
            <a:off x="876300" y="2057400"/>
            <a:ext cx="4610100" cy="148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CREATE TABLE prod.dwd_events (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event_time TIMESTAMP,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user_id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event_type STRING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USING iceberg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PARTITIONED BY (days(event_time), bucket(32, user_id));</a:t>
            </a:r>
          </a:p>
        </p:txBody>
      </p:sp>
      <p:sp>
        <p:nvSpPr>
          <p:cNvPr id="136" name="Code Block"/>
          <p:cNvSpPr txBox="0"/>
          <p:nvPr/>
        </p:nvSpPr>
        <p:spPr>
          <a:xfrm>
            <a:off x="704850" y="3943350"/>
            <a:ext cx="4953000" cy="12763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137" name="Text"/>
          <p:cNvSpPr txBox="1"/>
          <p:nvPr/>
        </p:nvSpPr>
        <p:spPr>
          <a:xfrm>
            <a:off x="876300" y="4076700"/>
            <a:ext cx="46101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查询仍然使用业务字段</a:t>
            </a:r>
          </a:p>
        </p:txBody>
      </p:sp>
      <p:sp>
        <p:nvSpPr>
          <p:cNvPr id="138" name="Text"/>
          <p:cNvSpPr txBox="1"/>
          <p:nvPr/>
        </p:nvSpPr>
        <p:spPr>
          <a:xfrm>
            <a:off x="876300" y="4362450"/>
            <a:ext cx="46101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count(*)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prod.dwd_events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WHERE event_time &gt;= TIMESTAMP '2026-07-01'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AND user_id = 'u-10086';</a:t>
            </a:r>
          </a:p>
        </p:txBody>
      </p:sp>
      <p:sp>
        <p:nvSpPr>
          <p:cNvPr id="139" name="Card"/>
          <p:cNvSpPr txBox="0"/>
          <p:nvPr/>
        </p:nvSpPr>
        <p:spPr>
          <a:xfrm>
            <a:off x="6362700" y="1676400"/>
            <a:ext cx="443865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40" name="Accent"/>
          <p:cNvSpPr txBox="0"/>
          <p:nvPr/>
        </p:nvSpPr>
        <p:spPr>
          <a:xfrm>
            <a:off x="6362700" y="1676400"/>
            <a:ext cx="57150" cy="11049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141" name="Text"/>
          <p:cNvSpPr txBox="1"/>
          <p:nvPr/>
        </p:nvSpPr>
        <p:spPr>
          <a:xfrm>
            <a:off x="6553200" y="1847850"/>
            <a:ext cx="40767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为什么叫隐藏分区</a:t>
            </a:r>
          </a:p>
        </p:txBody>
      </p:sp>
      <p:sp>
        <p:nvSpPr>
          <p:cNvPr id="142" name="Text"/>
          <p:cNvSpPr txBox="1"/>
          <p:nvPr/>
        </p:nvSpPr>
        <p:spPr>
          <a:xfrm>
            <a:off x="6553200" y="2209800"/>
            <a:ext cx="40576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表里不暴露 event_day、bucket_id 这类物理列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引擎根据谓词自动推导需要扫描的分区</a:t>
            </a:r>
          </a:p>
        </p:txBody>
      </p:sp>
      <p:sp>
        <p:nvSpPr>
          <p:cNvPr id="143" name="Card"/>
          <p:cNvSpPr txBox="0"/>
          <p:nvPr/>
        </p:nvSpPr>
        <p:spPr>
          <a:xfrm>
            <a:off x="6362700" y="3105150"/>
            <a:ext cx="443865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44" name="Accent"/>
          <p:cNvSpPr txBox="0"/>
          <p:nvPr/>
        </p:nvSpPr>
        <p:spPr>
          <a:xfrm>
            <a:off x="6362700" y="3105150"/>
            <a:ext cx="57150" cy="11049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45" name="Text"/>
          <p:cNvSpPr txBox="1"/>
          <p:nvPr/>
        </p:nvSpPr>
        <p:spPr>
          <a:xfrm>
            <a:off x="6553200" y="3276600"/>
            <a:ext cx="40767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带来的收益</a:t>
            </a:r>
          </a:p>
        </p:txBody>
      </p:sp>
      <p:sp>
        <p:nvSpPr>
          <p:cNvPr id="146" name="Text"/>
          <p:cNvSpPr txBox="1"/>
          <p:nvPr/>
        </p:nvSpPr>
        <p:spPr>
          <a:xfrm>
            <a:off x="6553200" y="3638550"/>
            <a:ext cx="40576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避免用户写错分区条件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减少目录级分区演进的历史包袱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更容易跨引擎保持一致</a:t>
            </a:r>
          </a:p>
        </p:txBody>
      </p:sp>
      <p:sp>
        <p:nvSpPr>
          <p:cNvPr id="147" name="Card"/>
          <p:cNvSpPr txBox="0"/>
          <p:nvPr/>
        </p:nvSpPr>
        <p:spPr>
          <a:xfrm>
            <a:off x="6362700" y="4533900"/>
            <a:ext cx="443865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48" name="Accent"/>
          <p:cNvSpPr txBox="0"/>
          <p:nvPr/>
        </p:nvSpPr>
        <p:spPr>
          <a:xfrm>
            <a:off x="6362700" y="4533900"/>
            <a:ext cx="57150" cy="11049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49" name="Text"/>
          <p:cNvSpPr txBox="1"/>
          <p:nvPr/>
        </p:nvSpPr>
        <p:spPr>
          <a:xfrm>
            <a:off x="6553200" y="4705350"/>
            <a:ext cx="40767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设计提醒</a:t>
            </a:r>
          </a:p>
        </p:txBody>
      </p:sp>
      <p:sp>
        <p:nvSpPr>
          <p:cNvPr id="150" name="Text"/>
          <p:cNvSpPr txBox="1"/>
          <p:nvPr/>
        </p:nvSpPr>
        <p:spPr>
          <a:xfrm>
            <a:off x="6553200" y="5067300"/>
            <a:ext cx="40576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分区字段要服务于过滤条件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bucket 数量与写入并发、文件大小一起看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过细分区仍会制造小文件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分区演进：表可以跟着查询模式成长</a:t>
            </a:r>
          </a:p>
        </p:txBody>
      </p:sp>
      <p:sp>
        <p:nvSpPr>
          <p:cNvPr id="152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新增、删除或调整分区 spec 是元数据操作，不要求立即重写历史数据文件。</a:t>
            </a:r>
          </a:p>
        </p:txBody>
      </p:sp>
      <p:sp>
        <p:nvSpPr>
          <p:cNvPr id="153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54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55" name="Rect"/>
          <p:cNvSpPr txBox="0"/>
          <p:nvPr/>
        </p:nvSpPr>
        <p:spPr>
          <a:xfrm>
            <a:off x="781050" y="1809750"/>
            <a:ext cx="3219450" cy="276225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</p:sp>
      <p:sp>
        <p:nvSpPr>
          <p:cNvPr id="156" name="Text"/>
          <p:cNvSpPr txBox="1"/>
          <p:nvPr/>
        </p:nvSpPr>
        <p:spPr>
          <a:xfrm>
            <a:off x="1066800" y="2095500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3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阶段 1：按天分区</a:t>
            </a:r>
          </a:p>
        </p:txBody>
      </p:sp>
      <p:sp>
        <p:nvSpPr>
          <p:cNvPr id="157" name="Text"/>
          <p:cNvSpPr txBox="1"/>
          <p:nvPr/>
        </p:nvSpPr>
        <p:spPr>
          <a:xfrm>
            <a:off x="1066800" y="2800350"/>
            <a:ext cx="25527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days(event_time)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适合按日期范围查询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历史文件仍按旧 spec 解释</a:t>
            </a:r>
          </a:p>
        </p:txBody>
      </p:sp>
      <p:sp>
        <p:nvSpPr>
          <p:cNvPr id="158" name="Rect"/>
          <p:cNvSpPr txBox="0"/>
          <p:nvPr/>
        </p:nvSpPr>
        <p:spPr>
          <a:xfrm>
            <a:off x="4495800" y="1809750"/>
            <a:ext cx="3219450" cy="276225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159" name="Text"/>
          <p:cNvSpPr txBox="1"/>
          <p:nvPr/>
        </p:nvSpPr>
        <p:spPr>
          <a:xfrm>
            <a:off x="4781550" y="2095500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阶段 2：增加 bucket</a:t>
            </a:r>
          </a:p>
        </p:txBody>
      </p:sp>
      <p:sp>
        <p:nvSpPr>
          <p:cNvPr id="160" name="Text"/>
          <p:cNvSpPr txBox="1"/>
          <p:nvPr/>
        </p:nvSpPr>
        <p:spPr>
          <a:xfrm>
            <a:off x="4781550" y="2800350"/>
            <a:ext cx="25527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days(event_time)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bucket(32, user_id)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新写入按新 spec 布局</a:t>
            </a:r>
          </a:p>
        </p:txBody>
      </p:sp>
      <p:sp>
        <p:nvSpPr>
          <p:cNvPr id="161" name="Rect"/>
          <p:cNvSpPr txBox="0"/>
          <p:nvPr/>
        </p:nvSpPr>
        <p:spPr>
          <a:xfrm>
            <a:off x="8210550" y="1809750"/>
            <a:ext cx="3219450" cy="2762250"/>
          </a:xfrm>
          <a:prstGeom prst="rect">
            <a:avLst/>
          </a:prstGeom>
          <a:solidFill>
            <a:srgbClr val="FFFBEB"/>
          </a:solidFill>
          <a:ln w="9525">
            <a:solidFill>
              <a:srgbClr val="FDE68A"/>
            </a:solidFill>
          </a:ln>
        </p:spPr>
      </p:sp>
      <p:sp>
        <p:nvSpPr>
          <p:cNvPr id="162" name="Text"/>
          <p:cNvSpPr txBox="1"/>
          <p:nvPr/>
        </p:nvSpPr>
        <p:spPr>
          <a:xfrm>
            <a:off x="8496300" y="2095500"/>
            <a:ext cx="25527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3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阶段 3：按小时优化</a:t>
            </a:r>
          </a:p>
        </p:txBody>
      </p:sp>
      <p:sp>
        <p:nvSpPr>
          <p:cNvPr id="163" name="Text"/>
          <p:cNvSpPr txBox="1"/>
          <p:nvPr/>
        </p:nvSpPr>
        <p:spPr>
          <a:xfrm>
            <a:off x="8496300" y="2800350"/>
            <a:ext cx="2552700" cy="781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hours(event_time)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热点窗口查询更快</a:t>
            </a:r>
          </a:p>
          <a:p>
            <a:pPr algn="c">
              <a:buNone/>
            </a:pPr>
            <a:r>
              <a:rPr lang="zh-CN" sz="18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维护任务逐步整理旧文件</a:t>
            </a:r>
          </a:p>
        </p:txBody>
      </p:sp>
      <p:sp>
        <p:nvSpPr>
          <p:cNvPr id="164" name="Text"/>
          <p:cNvSpPr txBox="1"/>
          <p:nvPr/>
        </p:nvSpPr>
        <p:spPr>
          <a:xfrm>
            <a:off x="1390650" y="5105400"/>
            <a:ext cx="94107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关键理解：Iceberg 会同时保留多个 partition spec，并用每个数据文件所属的 spec 正确解释历史数据。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Schema 演进：改表结构不等于重写全表</a:t>
            </a:r>
          </a:p>
        </p:txBody>
      </p:sp>
      <p:sp>
        <p:nvSpPr>
          <p:cNvPr id="166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使用字段 ID 跟踪列语义，降低重命名、调整顺序等操作带来的数据风险。</a:t>
            </a:r>
          </a:p>
        </p:txBody>
      </p:sp>
      <p:sp>
        <p:nvSpPr>
          <p:cNvPr id="167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68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69" name="Card"/>
          <p:cNvSpPr txBox="0"/>
          <p:nvPr/>
        </p:nvSpPr>
        <p:spPr>
          <a:xfrm>
            <a:off x="781050" y="1676400"/>
            <a:ext cx="3162300" cy="25336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70" name="Accent"/>
          <p:cNvSpPr txBox="0"/>
          <p:nvPr/>
        </p:nvSpPr>
        <p:spPr>
          <a:xfrm>
            <a:off x="781050" y="1676400"/>
            <a:ext cx="57150" cy="25336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1" name="Text"/>
          <p:cNvSpPr txBox="1"/>
          <p:nvPr/>
        </p:nvSpPr>
        <p:spPr>
          <a:xfrm>
            <a:off x="971550" y="184785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常见变更</a:t>
            </a:r>
          </a:p>
        </p:txBody>
      </p:sp>
      <p:sp>
        <p:nvSpPr>
          <p:cNvPr id="172" name="Text"/>
          <p:cNvSpPr txBox="1"/>
          <p:nvPr/>
        </p:nvSpPr>
        <p:spPr>
          <a:xfrm>
            <a:off x="971550" y="2209800"/>
            <a:ext cx="2781300" cy="1866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新增列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重命名列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调整列顺序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扩大类型能力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删除不再使用的列</a:t>
            </a:r>
          </a:p>
        </p:txBody>
      </p:sp>
      <p:sp>
        <p:nvSpPr>
          <p:cNvPr id="173" name="Card"/>
          <p:cNvSpPr txBox="0"/>
          <p:nvPr/>
        </p:nvSpPr>
        <p:spPr>
          <a:xfrm>
            <a:off x="4514850" y="1676400"/>
            <a:ext cx="3162300" cy="25336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74" name="Accent"/>
          <p:cNvSpPr txBox="0"/>
          <p:nvPr/>
        </p:nvSpPr>
        <p:spPr>
          <a:xfrm>
            <a:off x="4514850" y="1676400"/>
            <a:ext cx="57150" cy="253365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175" name="Text"/>
          <p:cNvSpPr txBox="1"/>
          <p:nvPr/>
        </p:nvSpPr>
        <p:spPr>
          <a:xfrm>
            <a:off x="4705350" y="184785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它避免了什么</a:t>
            </a:r>
          </a:p>
        </p:txBody>
      </p:sp>
      <p:sp>
        <p:nvSpPr>
          <p:cNvPr id="176" name="Text"/>
          <p:cNvSpPr txBox="1"/>
          <p:nvPr/>
        </p:nvSpPr>
        <p:spPr>
          <a:xfrm>
            <a:off x="4705350" y="2209800"/>
            <a:ext cx="2781300" cy="1866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靠列位置读取导致错列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不同引擎理解 schema 不一致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为小的 schema 变化重写海量历史文件</a:t>
            </a:r>
          </a:p>
        </p:txBody>
      </p:sp>
      <p:sp>
        <p:nvSpPr>
          <p:cNvPr id="177" name="Card"/>
          <p:cNvSpPr txBox="0"/>
          <p:nvPr/>
        </p:nvSpPr>
        <p:spPr>
          <a:xfrm>
            <a:off x="8248650" y="1676400"/>
            <a:ext cx="3162300" cy="25336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178" name="Accent"/>
          <p:cNvSpPr txBox="0"/>
          <p:nvPr/>
        </p:nvSpPr>
        <p:spPr>
          <a:xfrm>
            <a:off x="8248650" y="1676400"/>
            <a:ext cx="57150" cy="25336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79" name="Text"/>
          <p:cNvSpPr txBox="1"/>
          <p:nvPr/>
        </p:nvSpPr>
        <p:spPr>
          <a:xfrm>
            <a:off x="8439150" y="184785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仍需治理</a:t>
            </a:r>
          </a:p>
        </p:txBody>
      </p:sp>
      <p:sp>
        <p:nvSpPr>
          <p:cNvPr id="180" name="Text"/>
          <p:cNvSpPr txBox="1"/>
          <p:nvPr/>
        </p:nvSpPr>
        <p:spPr>
          <a:xfrm>
            <a:off x="8439150" y="2209800"/>
            <a:ext cx="2781300" cy="1866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字段含义变更要有兼容策略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删除列前确认下游依赖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类型收窄和语义变化要走评审</a:t>
            </a:r>
          </a:p>
        </p:txBody>
      </p:sp>
      <p:sp>
        <p:nvSpPr>
          <p:cNvPr id="181" name="Text"/>
          <p:cNvSpPr txBox="1"/>
          <p:nvPr/>
        </p:nvSpPr>
        <p:spPr>
          <a:xfrm>
            <a:off x="1009650" y="4876800"/>
            <a:ext cx="101346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实践建议：把 Iceberg 的 schema 演进能力当作“降低变更成本”的工具，而不是绕过数据契约治理的理由。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多引擎生态：同一张表被不同计算层共享</a:t>
            </a:r>
          </a:p>
        </p:txBody>
      </p:sp>
      <p:sp>
        <p:nvSpPr>
          <p:cNvPr id="183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是表格式标准，计算引擎负责读写执行，Catalog 负责发现和提交。</a:t>
            </a:r>
          </a:p>
        </p:txBody>
      </p:sp>
      <p:sp>
        <p:nvSpPr>
          <p:cNvPr id="184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185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86" name="Rect"/>
          <p:cNvSpPr txBox="0"/>
          <p:nvPr/>
        </p:nvSpPr>
        <p:spPr>
          <a:xfrm>
            <a:off x="723900" y="1676400"/>
            <a:ext cx="10744200" cy="323850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</p:sp>
      <p:sp>
        <p:nvSpPr>
          <p:cNvPr id="187" name="Rect"/>
          <p:cNvSpPr txBox="0"/>
          <p:nvPr/>
        </p:nvSpPr>
        <p:spPr>
          <a:xfrm>
            <a:off x="1143000" y="2152650"/>
            <a:ext cx="1143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</p:sp>
      <p:sp>
        <p:nvSpPr>
          <p:cNvPr id="188" name="Text"/>
          <p:cNvSpPr txBox="1"/>
          <p:nvPr/>
        </p:nvSpPr>
        <p:spPr>
          <a:xfrm>
            <a:off x="1219200" y="236220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Spark</a:t>
            </a:r>
          </a:p>
        </p:txBody>
      </p:sp>
      <p:sp>
        <p:nvSpPr>
          <p:cNvPr id="189" name="Rect"/>
          <p:cNvSpPr txBox="0"/>
          <p:nvPr/>
        </p:nvSpPr>
        <p:spPr>
          <a:xfrm>
            <a:off x="2800350" y="2152650"/>
            <a:ext cx="1143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</p:sp>
      <p:sp>
        <p:nvSpPr>
          <p:cNvPr id="190" name="Text"/>
          <p:cNvSpPr txBox="1"/>
          <p:nvPr/>
        </p:nvSpPr>
        <p:spPr>
          <a:xfrm>
            <a:off x="2876550" y="236220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Flink</a:t>
            </a:r>
          </a:p>
        </p:txBody>
      </p:sp>
      <p:sp>
        <p:nvSpPr>
          <p:cNvPr id="191" name="Rect"/>
          <p:cNvSpPr txBox="0"/>
          <p:nvPr/>
        </p:nvSpPr>
        <p:spPr>
          <a:xfrm>
            <a:off x="4457700" y="2152650"/>
            <a:ext cx="1143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</p:sp>
      <p:sp>
        <p:nvSpPr>
          <p:cNvPr id="192" name="Text"/>
          <p:cNvSpPr txBox="1"/>
          <p:nvPr/>
        </p:nvSpPr>
        <p:spPr>
          <a:xfrm>
            <a:off x="4533900" y="236220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Trino</a:t>
            </a:r>
          </a:p>
        </p:txBody>
      </p:sp>
      <p:sp>
        <p:nvSpPr>
          <p:cNvPr id="193" name="Rect"/>
          <p:cNvSpPr txBox="0"/>
          <p:nvPr/>
        </p:nvSpPr>
        <p:spPr>
          <a:xfrm>
            <a:off x="6115050" y="2152650"/>
            <a:ext cx="1143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</p:sp>
      <p:sp>
        <p:nvSpPr>
          <p:cNvPr id="194" name="Text"/>
          <p:cNvSpPr txBox="1"/>
          <p:nvPr/>
        </p:nvSpPr>
        <p:spPr>
          <a:xfrm>
            <a:off x="6191250" y="236220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StarRocks</a:t>
            </a:r>
          </a:p>
        </p:txBody>
      </p:sp>
      <p:sp>
        <p:nvSpPr>
          <p:cNvPr id="195" name="Rect"/>
          <p:cNvSpPr txBox="0"/>
          <p:nvPr/>
        </p:nvSpPr>
        <p:spPr>
          <a:xfrm>
            <a:off x="7772400" y="2152650"/>
            <a:ext cx="1143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</p:sp>
      <p:sp>
        <p:nvSpPr>
          <p:cNvPr id="196" name="Text"/>
          <p:cNvSpPr txBox="1"/>
          <p:nvPr/>
        </p:nvSpPr>
        <p:spPr>
          <a:xfrm>
            <a:off x="7848600" y="236220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Hive</a:t>
            </a:r>
          </a:p>
        </p:txBody>
      </p:sp>
      <p:sp>
        <p:nvSpPr>
          <p:cNvPr id="197" name="Rect"/>
          <p:cNvSpPr txBox="0"/>
          <p:nvPr/>
        </p:nvSpPr>
        <p:spPr>
          <a:xfrm>
            <a:off x="9429750" y="2152650"/>
            <a:ext cx="1143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C2626"/>
            </a:solidFill>
          </a:ln>
        </p:spPr>
      </p:sp>
      <p:sp>
        <p:nvSpPr>
          <p:cNvPr id="198" name="Text"/>
          <p:cNvSpPr txBox="1"/>
          <p:nvPr/>
        </p:nvSpPr>
        <p:spPr>
          <a:xfrm>
            <a:off x="9505950" y="236220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微服务</a:t>
            </a:r>
          </a:p>
        </p:txBody>
      </p:sp>
      <p:sp>
        <p:nvSpPr>
          <p:cNvPr id="199" name="Text"/>
          <p:cNvSpPr txBox="1"/>
          <p:nvPr/>
        </p:nvSpPr>
        <p:spPr>
          <a:xfrm>
            <a:off x="5314950" y="3257550"/>
            <a:ext cx="15621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Catalog</a:t>
            </a:r>
          </a:p>
        </p:txBody>
      </p:sp>
      <p:sp>
        <p:nvSpPr>
          <p:cNvPr id="200" name="Rect"/>
          <p:cNvSpPr txBox="0"/>
          <p:nvPr/>
        </p:nvSpPr>
        <p:spPr>
          <a:xfrm>
            <a:off x="4953000" y="3162300"/>
            <a:ext cx="22860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</p:sp>
      <p:sp>
        <p:nvSpPr>
          <p:cNvPr id="201" name="Text"/>
          <p:cNvSpPr txBox="1"/>
          <p:nvPr/>
        </p:nvSpPr>
        <p:spPr>
          <a:xfrm>
            <a:off x="4819650" y="4229100"/>
            <a:ext cx="25527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Iceberg Metadata</a:t>
            </a:r>
          </a:p>
        </p:txBody>
      </p:sp>
      <p:sp>
        <p:nvSpPr>
          <p:cNvPr id="202" name="Rect"/>
          <p:cNvSpPr txBox="0"/>
          <p:nvPr/>
        </p:nvSpPr>
        <p:spPr>
          <a:xfrm>
            <a:off x="4457700" y="4114800"/>
            <a:ext cx="32766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</p:sp>
      <p:sp>
        <p:nvSpPr>
          <p:cNvPr id="203" name="Card"/>
          <p:cNvSpPr txBox="0"/>
          <p:nvPr/>
        </p:nvSpPr>
        <p:spPr>
          <a:xfrm>
            <a:off x="971550" y="5334000"/>
            <a:ext cx="3086100" cy="8191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04" name="Accent"/>
          <p:cNvSpPr txBox="0"/>
          <p:nvPr/>
        </p:nvSpPr>
        <p:spPr>
          <a:xfrm>
            <a:off x="971550" y="5334000"/>
            <a:ext cx="57150" cy="819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5" name="Text"/>
          <p:cNvSpPr txBox="1"/>
          <p:nvPr/>
        </p:nvSpPr>
        <p:spPr>
          <a:xfrm>
            <a:off x="1162050" y="5505450"/>
            <a:ext cx="2724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206" name="Text"/>
          <p:cNvSpPr txBox="1"/>
          <p:nvPr/>
        </p:nvSpPr>
        <p:spPr>
          <a:xfrm>
            <a:off x="1162050" y="5867400"/>
            <a:ext cx="2705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同一份数据、同一套表语义</a:t>
            </a:r>
          </a:p>
        </p:txBody>
      </p:sp>
      <p:sp>
        <p:nvSpPr>
          <p:cNvPr id="207" name="Card"/>
          <p:cNvSpPr txBox="0"/>
          <p:nvPr/>
        </p:nvSpPr>
        <p:spPr>
          <a:xfrm>
            <a:off x="4552950" y="5334000"/>
            <a:ext cx="3086100" cy="8191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08" name="Accent"/>
          <p:cNvSpPr txBox="0"/>
          <p:nvPr/>
        </p:nvSpPr>
        <p:spPr>
          <a:xfrm>
            <a:off x="4552950" y="5334000"/>
            <a:ext cx="57150" cy="81915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209" name="Text"/>
          <p:cNvSpPr txBox="1"/>
          <p:nvPr/>
        </p:nvSpPr>
        <p:spPr>
          <a:xfrm>
            <a:off x="4743450" y="5505450"/>
            <a:ext cx="2724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前提</a:t>
            </a:r>
          </a:p>
        </p:txBody>
      </p:sp>
      <p:sp>
        <p:nvSpPr>
          <p:cNvPr id="210" name="Text"/>
          <p:cNvSpPr txBox="1"/>
          <p:nvPr/>
        </p:nvSpPr>
        <p:spPr>
          <a:xfrm>
            <a:off x="4743450" y="5867400"/>
            <a:ext cx="2705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Catalog、权限、版本兼容要统一</a:t>
            </a:r>
          </a:p>
        </p:txBody>
      </p:sp>
      <p:sp>
        <p:nvSpPr>
          <p:cNvPr id="211" name="Card"/>
          <p:cNvSpPr txBox="0"/>
          <p:nvPr/>
        </p:nvSpPr>
        <p:spPr>
          <a:xfrm>
            <a:off x="8134350" y="5334000"/>
            <a:ext cx="3086100" cy="8191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12" name="Accent"/>
          <p:cNvSpPr txBox="0"/>
          <p:nvPr/>
        </p:nvSpPr>
        <p:spPr>
          <a:xfrm>
            <a:off x="8134350" y="5334000"/>
            <a:ext cx="57150" cy="8191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13" name="Text"/>
          <p:cNvSpPr txBox="1"/>
          <p:nvPr/>
        </p:nvSpPr>
        <p:spPr>
          <a:xfrm>
            <a:off x="8324850" y="5505450"/>
            <a:ext cx="2724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14" name="Text"/>
          <p:cNvSpPr txBox="1"/>
          <p:nvPr/>
        </p:nvSpPr>
        <p:spPr>
          <a:xfrm>
            <a:off x="8324850" y="5867400"/>
            <a:ext cx="27051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不要让各引擎绕过 Iceberg 直接改文件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Flink 适合承担实时写入和增量读取</a:t>
            </a:r>
          </a:p>
        </p:txBody>
      </p:sp>
      <p:sp>
        <p:nvSpPr>
          <p:cNvPr id="216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在 Iceberg 架构里，Flink 常作为流式写入、CDC 合并和近实时消费的执行层。</a:t>
            </a:r>
          </a:p>
        </p:txBody>
      </p:sp>
      <p:sp>
        <p:nvSpPr>
          <p:cNvPr id="217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218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19" name="Card"/>
          <p:cNvSpPr txBox="0"/>
          <p:nvPr/>
        </p:nvSpPr>
        <p:spPr>
          <a:xfrm>
            <a:off x="704850" y="1600200"/>
            <a:ext cx="3238500" cy="22669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20" name="Accent"/>
          <p:cNvSpPr txBox="0"/>
          <p:nvPr/>
        </p:nvSpPr>
        <p:spPr>
          <a:xfrm>
            <a:off x="704850" y="1600200"/>
            <a:ext cx="57150" cy="226695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221" name="Text"/>
          <p:cNvSpPr txBox="1"/>
          <p:nvPr/>
        </p:nvSpPr>
        <p:spPr>
          <a:xfrm>
            <a:off x="895350" y="1771650"/>
            <a:ext cx="2876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Flink SQL</a:t>
            </a:r>
          </a:p>
        </p:txBody>
      </p:sp>
      <p:sp>
        <p:nvSpPr>
          <p:cNvPr id="222" name="Text"/>
          <p:cNvSpPr txBox="1"/>
          <p:nvPr/>
        </p:nvSpPr>
        <p:spPr>
          <a:xfrm>
            <a:off x="895350" y="2133600"/>
            <a:ext cx="285750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适合 SQL Client、平台化任务和批流一体作业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支持 batch / streaming 读取 Iceberg 表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INSERT INTO 可用于追加写入，INSERT OVERWRITE 仅用于批模式</a:t>
            </a:r>
          </a:p>
        </p:txBody>
      </p:sp>
      <p:sp>
        <p:nvSpPr>
          <p:cNvPr id="223" name="Card"/>
          <p:cNvSpPr txBox="0"/>
          <p:nvPr/>
        </p:nvSpPr>
        <p:spPr>
          <a:xfrm>
            <a:off x="4476750" y="1600200"/>
            <a:ext cx="3238500" cy="22669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24" name="Accent"/>
          <p:cNvSpPr txBox="0"/>
          <p:nvPr/>
        </p:nvSpPr>
        <p:spPr>
          <a:xfrm>
            <a:off x="4476750" y="1600200"/>
            <a:ext cx="57150" cy="22669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5" name="Text"/>
          <p:cNvSpPr txBox="1"/>
          <p:nvPr/>
        </p:nvSpPr>
        <p:spPr>
          <a:xfrm>
            <a:off x="4667250" y="1771650"/>
            <a:ext cx="2876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DataStream API</a:t>
            </a:r>
          </a:p>
        </p:txBody>
      </p:sp>
      <p:sp>
        <p:nvSpPr>
          <p:cNvPr id="226" name="Text"/>
          <p:cNvSpPr txBox="1"/>
          <p:nvPr/>
        </p:nvSpPr>
        <p:spPr>
          <a:xfrm>
            <a:off x="4667250" y="2133600"/>
            <a:ext cx="285750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适合已有 Java 流处理链路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可用 FlinkSink 写入 Iceberg 表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Iceberg Flink sink 提供 exactly-once 语义</a:t>
            </a:r>
          </a:p>
        </p:txBody>
      </p:sp>
      <p:sp>
        <p:nvSpPr>
          <p:cNvPr id="227" name="Card"/>
          <p:cNvSpPr txBox="0"/>
          <p:nvPr/>
        </p:nvSpPr>
        <p:spPr>
          <a:xfrm>
            <a:off x="8248650" y="1600200"/>
            <a:ext cx="3238500" cy="22669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28" name="Accent"/>
          <p:cNvSpPr txBox="0"/>
          <p:nvPr/>
        </p:nvSpPr>
        <p:spPr>
          <a:xfrm>
            <a:off x="8248650" y="1600200"/>
            <a:ext cx="57150" cy="22669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29" name="Text"/>
          <p:cNvSpPr txBox="1"/>
          <p:nvPr/>
        </p:nvSpPr>
        <p:spPr>
          <a:xfrm>
            <a:off x="8439150" y="1771650"/>
            <a:ext cx="2876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典型场景</a:t>
            </a:r>
          </a:p>
        </p:txBody>
      </p:sp>
      <p:sp>
        <p:nvSpPr>
          <p:cNvPr id="230" name="Text"/>
          <p:cNvSpPr txBox="1"/>
          <p:nvPr/>
        </p:nvSpPr>
        <p:spPr>
          <a:xfrm>
            <a:off x="8439150" y="2133600"/>
            <a:ext cx="285750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Kafka CDC 写入 ODS/DWD 明细表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从历史 snapshot 开始做增量读取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把流式写入后的维护动作纳入平台调度</a:t>
            </a:r>
          </a:p>
        </p:txBody>
      </p:sp>
      <p:sp>
        <p:nvSpPr>
          <p:cNvPr id="231" name="Rect"/>
          <p:cNvSpPr txBox="0"/>
          <p:nvPr/>
        </p:nvSpPr>
        <p:spPr>
          <a:xfrm>
            <a:off x="1066800" y="4629150"/>
            <a:ext cx="10058400" cy="74295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232" name="Text"/>
          <p:cNvSpPr txBox="1"/>
          <p:nvPr/>
        </p:nvSpPr>
        <p:spPr>
          <a:xfrm>
            <a:off x="1371600" y="4819650"/>
            <a:ext cx="9429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落地判断：如果表需要持续摄入、低延迟可查、失败后可恢复，Flink + Iceberg 比“流任务直接落 Parquet 目录”更容易治理。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Hive Catalog 让 Spark、Flink 和查询引擎共用同一张表</a:t>
            </a:r>
          </a:p>
        </p:txBody>
      </p:sp>
      <p:sp>
        <p:nvSpPr>
          <p:cNvPr id="234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Hive Metastore 负责表发现，Iceberg metadata 负责真实表状态；warehouse 负责数据和元数据存储位置。</a:t>
            </a:r>
          </a:p>
        </p:txBody>
      </p:sp>
      <p:sp>
        <p:nvSpPr>
          <p:cNvPr id="235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236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37" name="Code Block"/>
          <p:cNvSpPr txBox="0"/>
          <p:nvPr/>
        </p:nvSpPr>
        <p:spPr>
          <a:xfrm>
            <a:off x="723900" y="1581150"/>
            <a:ext cx="5429250" cy="23622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38" name="Text"/>
          <p:cNvSpPr txBox="1"/>
          <p:nvPr/>
        </p:nvSpPr>
        <p:spPr>
          <a:xfrm>
            <a:off x="895350" y="1714500"/>
            <a:ext cx="5086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Flink SQL Client 中注册 Hive Catalog</a:t>
            </a:r>
          </a:p>
        </p:txBody>
      </p:sp>
      <p:sp>
        <p:nvSpPr>
          <p:cNvPr id="239" name="Text"/>
          <p:cNvSpPr txBox="1"/>
          <p:nvPr/>
        </p:nvSpPr>
        <p:spPr>
          <a:xfrm>
            <a:off x="895350" y="2000250"/>
            <a:ext cx="5086350" cy="1866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CREATE CATALOG hive_catalog WITH (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'type'='iceberg',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'catalog-type'='hive',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'uri'='thrift://hive-metastore:9083',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'warehouse'='hdfs://namenode:8020/services/lakehouse/warehouse'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);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/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USE CATALOG hive_catalog;</a:t>
            </a:r>
          </a:p>
        </p:txBody>
      </p:sp>
      <p:sp>
        <p:nvSpPr>
          <p:cNvPr id="240" name="Code Block"/>
          <p:cNvSpPr txBox="0"/>
          <p:nvPr/>
        </p:nvSpPr>
        <p:spPr>
          <a:xfrm>
            <a:off x="723900" y="4267200"/>
            <a:ext cx="5429250" cy="10477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41" name="Text"/>
          <p:cNvSpPr txBox="1"/>
          <p:nvPr/>
        </p:nvSpPr>
        <p:spPr>
          <a:xfrm>
            <a:off x="895350" y="4400550"/>
            <a:ext cx="50863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通过初始化 SQL 文件固定会话环境</a:t>
            </a:r>
          </a:p>
        </p:txBody>
      </p:sp>
      <p:sp>
        <p:nvSpPr>
          <p:cNvPr id="242" name="Text"/>
          <p:cNvSpPr txBox="1"/>
          <p:nvPr/>
        </p:nvSpPr>
        <p:spPr>
          <a:xfrm>
            <a:off x="895350" y="4686300"/>
            <a:ext cx="50863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-- 可放入 init.sql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/path/to/flink/bin/sql-client.sh -i /path/to/init.sql</a:t>
            </a:r>
          </a:p>
        </p:txBody>
      </p:sp>
      <p:sp>
        <p:nvSpPr>
          <p:cNvPr id="243" name="Card"/>
          <p:cNvSpPr txBox="0"/>
          <p:nvPr/>
        </p:nvSpPr>
        <p:spPr>
          <a:xfrm>
            <a:off x="6858000" y="1619250"/>
            <a:ext cx="390525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44" name="Accent"/>
          <p:cNvSpPr txBox="0"/>
          <p:nvPr/>
        </p:nvSpPr>
        <p:spPr>
          <a:xfrm>
            <a:off x="6858000" y="1619250"/>
            <a:ext cx="57150" cy="11049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45" name="Text"/>
          <p:cNvSpPr txBox="1"/>
          <p:nvPr/>
        </p:nvSpPr>
        <p:spPr>
          <a:xfrm>
            <a:off x="7048500" y="1790700"/>
            <a:ext cx="35433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必须统一</a:t>
            </a:r>
          </a:p>
        </p:txBody>
      </p:sp>
      <p:sp>
        <p:nvSpPr>
          <p:cNvPr id="246" name="Text"/>
          <p:cNvSpPr txBox="1"/>
          <p:nvPr/>
        </p:nvSpPr>
        <p:spPr>
          <a:xfrm>
            <a:off x="7048500" y="2152650"/>
            <a:ext cx="3524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HMS URI、warehouse、Hadoop 配置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Iceberg/Flink/Spark 版本兼容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Catalog 命名和数据库命名规范</a:t>
            </a:r>
          </a:p>
        </p:txBody>
      </p:sp>
      <p:sp>
        <p:nvSpPr>
          <p:cNvPr id="247" name="Card"/>
          <p:cNvSpPr txBox="0"/>
          <p:nvPr/>
        </p:nvSpPr>
        <p:spPr>
          <a:xfrm>
            <a:off x="6858000" y="3105150"/>
            <a:ext cx="390525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48" name="Accent"/>
          <p:cNvSpPr txBox="0"/>
          <p:nvPr/>
        </p:nvSpPr>
        <p:spPr>
          <a:xfrm>
            <a:off x="6858000" y="3105150"/>
            <a:ext cx="57150" cy="110490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49" name="Text"/>
          <p:cNvSpPr txBox="1"/>
          <p:nvPr/>
        </p:nvSpPr>
        <p:spPr>
          <a:xfrm>
            <a:off x="7048500" y="3276600"/>
            <a:ext cx="35433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不要混用</a:t>
            </a:r>
          </a:p>
        </p:txBody>
      </p:sp>
      <p:sp>
        <p:nvSpPr>
          <p:cNvPr id="250" name="Text"/>
          <p:cNvSpPr txBox="1"/>
          <p:nvPr/>
        </p:nvSpPr>
        <p:spPr>
          <a:xfrm>
            <a:off x="7048500" y="3638550"/>
            <a:ext cx="3524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不要让任务绕过 Catalog 直接写表目录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不要用不同 warehouse 指向同名库表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不要把 Hive 外表 schema 当作 Iceberg 真相</a:t>
            </a:r>
          </a:p>
        </p:txBody>
      </p:sp>
      <p:sp>
        <p:nvSpPr>
          <p:cNvPr id="251" name="Card"/>
          <p:cNvSpPr txBox="0"/>
          <p:nvPr/>
        </p:nvSpPr>
        <p:spPr>
          <a:xfrm>
            <a:off x="6858000" y="4591050"/>
            <a:ext cx="3905250" cy="8953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52" name="Accent"/>
          <p:cNvSpPr txBox="0"/>
          <p:nvPr/>
        </p:nvSpPr>
        <p:spPr>
          <a:xfrm>
            <a:off x="6858000" y="4591050"/>
            <a:ext cx="57150" cy="895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53" name="Text"/>
          <p:cNvSpPr txBox="1"/>
          <p:nvPr/>
        </p:nvSpPr>
        <p:spPr>
          <a:xfrm>
            <a:off x="7048500" y="4762500"/>
            <a:ext cx="35433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关键提醒</a:t>
            </a:r>
          </a:p>
        </p:txBody>
      </p:sp>
      <p:sp>
        <p:nvSpPr>
          <p:cNvPr id="254" name="Text"/>
          <p:cNvSpPr txBox="1"/>
          <p:nvPr/>
        </p:nvSpPr>
        <p:spPr>
          <a:xfrm>
            <a:off x="7048500" y="5124450"/>
            <a:ext cx="3524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Iceberg-aware 引擎读取 Iceberg metadata；Hive Metastore 主要是入口和锁定表位置。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Flink DDL 和写入示例要按 Flink 的能力边界设计</a:t>
            </a:r>
          </a:p>
        </p:txBody>
      </p:sp>
      <p:sp>
        <p:nvSpPr>
          <p:cNvPr id="256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Flink 可建 Iceberg 表并声明主键，但当前 DDL 不支持按函数声明隐藏分区。</a:t>
            </a:r>
          </a:p>
        </p:txBody>
      </p:sp>
      <p:sp>
        <p:nvSpPr>
          <p:cNvPr id="257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258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259" name="Code Block"/>
          <p:cNvSpPr txBox="0"/>
          <p:nvPr/>
        </p:nvSpPr>
        <p:spPr>
          <a:xfrm>
            <a:off x="666750" y="1543050"/>
            <a:ext cx="5353050" cy="30289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60" name="Text"/>
          <p:cNvSpPr txBox="1"/>
          <p:nvPr/>
        </p:nvSpPr>
        <p:spPr>
          <a:xfrm>
            <a:off x="838200" y="1676400"/>
            <a:ext cx="5010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Flink 建表示例：适合 UPSERT 的 v2 表</a:t>
            </a:r>
          </a:p>
        </p:txBody>
      </p:sp>
      <p:sp>
        <p:nvSpPr>
          <p:cNvPr id="261" name="Text"/>
          <p:cNvSpPr txBox="1"/>
          <p:nvPr/>
        </p:nvSpPr>
        <p:spPr>
          <a:xfrm>
            <a:off x="838200" y="1962150"/>
            <a:ext cx="5010150" cy="2533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CREATE TABLE hive_catalog.telecom.cell_kpi_1min (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ts TIMESTAMP(3),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cell_id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province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city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availability DOUBLE,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traffic_mb DOUBLE,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prb_util DOUBLE,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PRIMARY KEY (ts, cell_id) NOT ENFORCED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PARTITIONED BY (province, city)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WITH (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'format-version'='2',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'write.upsert.enabled'='true'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);</a:t>
            </a:r>
          </a:p>
        </p:txBody>
      </p:sp>
      <p:sp>
        <p:nvSpPr>
          <p:cNvPr id="262" name="Code Block"/>
          <p:cNvSpPr txBox="0"/>
          <p:nvPr/>
        </p:nvSpPr>
        <p:spPr>
          <a:xfrm>
            <a:off x="666750" y="4895850"/>
            <a:ext cx="5353050" cy="8382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63" name="Text"/>
          <p:cNvSpPr txBox="1"/>
          <p:nvPr/>
        </p:nvSpPr>
        <p:spPr>
          <a:xfrm>
            <a:off x="838200" y="5029200"/>
            <a:ext cx="50101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流式追加或 upsert 写入</a:t>
            </a:r>
          </a:p>
        </p:txBody>
      </p:sp>
      <p:sp>
        <p:nvSpPr>
          <p:cNvPr id="264" name="Text"/>
          <p:cNvSpPr txBox="1"/>
          <p:nvPr/>
        </p:nvSpPr>
        <p:spPr>
          <a:xfrm>
            <a:off x="838200" y="5314950"/>
            <a:ext cx="501015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INSERT INTO hive_catalog.telecom.cell_kpi_1min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ts, cell_id, province, city, availability, traffic_mb, prb_util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kafka_cell_kpi_delta;</a:t>
            </a:r>
          </a:p>
        </p:txBody>
      </p:sp>
      <p:sp>
        <p:nvSpPr>
          <p:cNvPr id="265" name="Card"/>
          <p:cNvSpPr txBox="0"/>
          <p:nvPr/>
        </p:nvSpPr>
        <p:spPr>
          <a:xfrm>
            <a:off x="6705600" y="1600200"/>
            <a:ext cx="400050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66" name="Accent"/>
          <p:cNvSpPr txBox="0"/>
          <p:nvPr/>
        </p:nvSpPr>
        <p:spPr>
          <a:xfrm>
            <a:off x="6705600" y="1600200"/>
            <a:ext cx="57150" cy="11049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67" name="Text"/>
          <p:cNvSpPr txBox="1"/>
          <p:nvPr/>
        </p:nvSpPr>
        <p:spPr>
          <a:xfrm>
            <a:off x="6896100" y="177165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 Spark DDL 的差异</a:t>
            </a:r>
          </a:p>
        </p:txBody>
      </p:sp>
      <p:sp>
        <p:nvSpPr>
          <p:cNvPr id="268" name="Text"/>
          <p:cNvSpPr txBox="1"/>
          <p:nvPr/>
        </p:nvSpPr>
        <p:spPr>
          <a:xfrm>
            <a:off x="6896100" y="21336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Spark 可用 days(ts)、bucket(...) 等隐藏分区变换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Flink DDL 当前不能按函数声明隐藏分区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需要在平台规范里区分建表入口</a:t>
            </a:r>
          </a:p>
        </p:txBody>
      </p:sp>
      <p:sp>
        <p:nvSpPr>
          <p:cNvPr id="269" name="Card"/>
          <p:cNvSpPr txBox="0"/>
          <p:nvPr/>
        </p:nvSpPr>
        <p:spPr>
          <a:xfrm>
            <a:off x="6705600" y="3105150"/>
            <a:ext cx="400050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70" name="Accent"/>
          <p:cNvSpPr txBox="0"/>
          <p:nvPr/>
        </p:nvSpPr>
        <p:spPr>
          <a:xfrm>
            <a:off x="6705600" y="3105150"/>
            <a:ext cx="57150" cy="11049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271" name="Text"/>
          <p:cNvSpPr txBox="1"/>
          <p:nvPr/>
        </p:nvSpPr>
        <p:spPr>
          <a:xfrm>
            <a:off x="6896100" y="327660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UPSERT 条件</a:t>
            </a:r>
          </a:p>
        </p:txBody>
      </p:sp>
      <p:sp>
        <p:nvSpPr>
          <p:cNvPr id="272" name="Text"/>
          <p:cNvSpPr txBox="1"/>
          <p:nvPr/>
        </p:nvSpPr>
        <p:spPr>
          <a:xfrm>
            <a:off x="6896100" y="363855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使用 v2 表格式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声明主键或 identifier fields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分区字段对应的源列要能参与 equality 语义</a:t>
            </a:r>
          </a:p>
        </p:txBody>
      </p:sp>
      <p:sp>
        <p:nvSpPr>
          <p:cNvPr id="273" name="Card"/>
          <p:cNvSpPr txBox="0"/>
          <p:nvPr/>
        </p:nvSpPr>
        <p:spPr>
          <a:xfrm>
            <a:off x="6705600" y="4610100"/>
            <a:ext cx="4000500" cy="9525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74" name="Accent"/>
          <p:cNvSpPr txBox="0"/>
          <p:nvPr/>
        </p:nvSpPr>
        <p:spPr>
          <a:xfrm>
            <a:off x="6705600" y="4610100"/>
            <a:ext cx="57150" cy="9525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75" name="Text"/>
          <p:cNvSpPr txBox="1"/>
          <p:nvPr/>
        </p:nvSpPr>
        <p:spPr>
          <a:xfrm>
            <a:off x="6896100" y="478155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生产建议</a:t>
            </a:r>
          </a:p>
        </p:txBody>
      </p:sp>
      <p:sp>
        <p:nvSpPr>
          <p:cNvPr id="276" name="Text"/>
          <p:cNvSpPr txBox="1"/>
          <p:nvPr/>
        </p:nvSpPr>
        <p:spPr>
          <a:xfrm>
            <a:off x="6896100" y="51435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复杂分区表可由 Spark 建表，Flink 负责稳定写入；或者先接受 Flink DDL 的分区限制。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查询能力：普通 SQL、元数据表、时间旅行</a:t>
            </a:r>
          </a:p>
        </p:txBody>
      </p:sp>
      <p:sp>
        <p:nvSpPr>
          <p:cNvPr id="278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除了读业务数据，Iceberg 还让表的文件、快照、历史等信息可以被查询。</a:t>
            </a:r>
          </a:p>
        </p:txBody>
      </p:sp>
      <p:sp>
        <p:nvSpPr>
          <p:cNvPr id="279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280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81" name="Code Block"/>
          <p:cNvSpPr txBox="0"/>
          <p:nvPr/>
        </p:nvSpPr>
        <p:spPr>
          <a:xfrm>
            <a:off x="685800" y="1619250"/>
            <a:ext cx="5124450" cy="1295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82" name="Text"/>
          <p:cNvSpPr txBox="1"/>
          <p:nvPr/>
        </p:nvSpPr>
        <p:spPr>
          <a:xfrm>
            <a:off x="857250" y="1752600"/>
            <a:ext cx="47815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普通业务查询</a:t>
            </a:r>
          </a:p>
        </p:txBody>
      </p:sp>
      <p:sp>
        <p:nvSpPr>
          <p:cNvPr id="283" name="Text"/>
          <p:cNvSpPr txBox="1"/>
          <p:nvPr/>
        </p:nvSpPr>
        <p:spPr>
          <a:xfrm>
            <a:off x="857250" y="2038350"/>
            <a:ext cx="478155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event_type, count(*)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prod.dwd_events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WHERE event_time &gt;= TIMESTAMP '2026-07-01'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GROUP BY event_type;</a:t>
            </a:r>
          </a:p>
        </p:txBody>
      </p:sp>
      <p:sp>
        <p:nvSpPr>
          <p:cNvPr id="284" name="Code Block"/>
          <p:cNvSpPr txBox="0"/>
          <p:nvPr/>
        </p:nvSpPr>
        <p:spPr>
          <a:xfrm>
            <a:off x="685800" y="3200400"/>
            <a:ext cx="5124450" cy="12573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85" name="Text"/>
          <p:cNvSpPr txBox="1"/>
          <p:nvPr/>
        </p:nvSpPr>
        <p:spPr>
          <a:xfrm>
            <a:off x="857250" y="3333750"/>
            <a:ext cx="47815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元数据表查询</a:t>
            </a:r>
          </a:p>
        </p:txBody>
      </p:sp>
      <p:sp>
        <p:nvSpPr>
          <p:cNvPr id="286" name="Text"/>
          <p:cNvSpPr txBox="1"/>
          <p:nvPr/>
        </p:nvSpPr>
        <p:spPr>
          <a:xfrm>
            <a:off x="857250" y="3619500"/>
            <a:ext cx="478155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snapshot_id, committed_at, operation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prod.dwd_events.snapshots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ORDER BY committed_at DESC;</a:t>
            </a:r>
          </a:p>
        </p:txBody>
      </p:sp>
      <p:sp>
        <p:nvSpPr>
          <p:cNvPr id="287" name="Code Block"/>
          <p:cNvSpPr txBox="0"/>
          <p:nvPr/>
        </p:nvSpPr>
        <p:spPr>
          <a:xfrm>
            <a:off x="685800" y="4743450"/>
            <a:ext cx="5124450" cy="9334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288" name="Text"/>
          <p:cNvSpPr txBox="1"/>
          <p:nvPr/>
        </p:nvSpPr>
        <p:spPr>
          <a:xfrm>
            <a:off x="857250" y="4876800"/>
            <a:ext cx="47815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时间旅行查询</a:t>
            </a:r>
          </a:p>
        </p:txBody>
      </p:sp>
      <p:sp>
        <p:nvSpPr>
          <p:cNvPr id="289" name="Text"/>
          <p:cNvSpPr txBox="1"/>
          <p:nvPr/>
        </p:nvSpPr>
        <p:spPr>
          <a:xfrm>
            <a:off x="857250" y="5162550"/>
            <a:ext cx="47815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* FROM prod.dwd_events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VERSION AS OF 10963874102873;</a:t>
            </a:r>
          </a:p>
        </p:txBody>
      </p:sp>
      <p:sp>
        <p:nvSpPr>
          <p:cNvPr id="290" name="Card"/>
          <p:cNvSpPr txBox="0"/>
          <p:nvPr/>
        </p:nvSpPr>
        <p:spPr>
          <a:xfrm>
            <a:off x="6438900" y="1714500"/>
            <a:ext cx="4229100" cy="10477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91" name="Accent"/>
          <p:cNvSpPr txBox="0"/>
          <p:nvPr/>
        </p:nvSpPr>
        <p:spPr>
          <a:xfrm>
            <a:off x="6438900" y="1714500"/>
            <a:ext cx="57150" cy="1047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92" name="Text"/>
          <p:cNvSpPr txBox="1"/>
          <p:nvPr/>
        </p:nvSpPr>
        <p:spPr>
          <a:xfrm>
            <a:off x="6629400" y="1885950"/>
            <a:ext cx="3867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排障</a:t>
            </a:r>
          </a:p>
        </p:txBody>
      </p:sp>
      <p:sp>
        <p:nvSpPr>
          <p:cNvPr id="293" name="Text"/>
          <p:cNvSpPr txBox="1"/>
          <p:nvPr/>
        </p:nvSpPr>
        <p:spPr>
          <a:xfrm>
            <a:off x="6629400" y="2247900"/>
            <a:ext cx="38481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查 snapshots/history 判断何时发生变化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查 files/manifests 理解扫描量来源</a:t>
            </a:r>
          </a:p>
        </p:txBody>
      </p:sp>
      <p:sp>
        <p:nvSpPr>
          <p:cNvPr id="294" name="Card"/>
          <p:cNvSpPr txBox="0"/>
          <p:nvPr/>
        </p:nvSpPr>
        <p:spPr>
          <a:xfrm>
            <a:off x="6438900" y="3143250"/>
            <a:ext cx="4229100" cy="10477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95" name="Accent"/>
          <p:cNvSpPr txBox="0"/>
          <p:nvPr/>
        </p:nvSpPr>
        <p:spPr>
          <a:xfrm>
            <a:off x="6438900" y="3143250"/>
            <a:ext cx="57150" cy="104775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296" name="Text"/>
          <p:cNvSpPr txBox="1"/>
          <p:nvPr/>
        </p:nvSpPr>
        <p:spPr>
          <a:xfrm>
            <a:off x="6629400" y="3314700"/>
            <a:ext cx="3867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审计</a:t>
            </a:r>
          </a:p>
        </p:txBody>
      </p:sp>
      <p:sp>
        <p:nvSpPr>
          <p:cNvPr id="297" name="Text"/>
          <p:cNvSpPr txBox="1"/>
          <p:nvPr/>
        </p:nvSpPr>
        <p:spPr>
          <a:xfrm>
            <a:off x="6629400" y="3676650"/>
            <a:ext cx="38481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复现历史版本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证明某次报表基于哪个快照</a:t>
            </a:r>
          </a:p>
        </p:txBody>
      </p:sp>
      <p:sp>
        <p:nvSpPr>
          <p:cNvPr id="298" name="Card"/>
          <p:cNvSpPr txBox="0"/>
          <p:nvPr/>
        </p:nvSpPr>
        <p:spPr>
          <a:xfrm>
            <a:off x="6438900" y="4572000"/>
            <a:ext cx="4229100" cy="10477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299" name="Accent"/>
          <p:cNvSpPr txBox="0"/>
          <p:nvPr/>
        </p:nvSpPr>
        <p:spPr>
          <a:xfrm>
            <a:off x="6438900" y="4572000"/>
            <a:ext cx="57150" cy="10477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0" name="Text"/>
          <p:cNvSpPr txBox="1"/>
          <p:nvPr/>
        </p:nvSpPr>
        <p:spPr>
          <a:xfrm>
            <a:off x="6629400" y="4743450"/>
            <a:ext cx="38671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优化</a:t>
            </a:r>
          </a:p>
        </p:txBody>
      </p:sp>
      <p:sp>
        <p:nvSpPr>
          <p:cNvPr id="301" name="Text"/>
          <p:cNvSpPr txBox="1"/>
          <p:nvPr/>
        </p:nvSpPr>
        <p:spPr>
          <a:xfrm>
            <a:off x="6629400" y="5105400"/>
            <a:ext cx="38481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通过 metadata tables 找小文件、倾斜分区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结合查询计划确认谓词下推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写入能力：批、流、更新与合并</a:t>
            </a:r>
          </a:p>
        </p:txBody>
      </p:sp>
      <p:sp>
        <p:nvSpPr>
          <p:cNvPr id="303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Spark/Flink 等引擎可以通过 Iceberg 表完成 append、overwrite、merge、delete 等写入。</a:t>
            </a:r>
          </a:p>
        </p:txBody>
      </p:sp>
      <p:sp>
        <p:nvSpPr>
          <p:cNvPr id="304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305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06" name="Table Cell"/>
          <p:cNvSpPr txBox="0"/>
          <p:nvPr/>
        </p:nvSpPr>
        <p:spPr>
          <a:xfrm>
            <a:off x="742950" y="1638300"/>
            <a:ext cx="20002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307" name="Text"/>
          <p:cNvSpPr txBox="1"/>
          <p:nvPr/>
        </p:nvSpPr>
        <p:spPr>
          <a:xfrm>
            <a:off x="838200" y="172402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写入类型</a:t>
            </a:r>
          </a:p>
        </p:txBody>
      </p:sp>
      <p:sp>
        <p:nvSpPr>
          <p:cNvPr id="308" name="Table Cell"/>
          <p:cNvSpPr txBox="0"/>
          <p:nvPr/>
        </p:nvSpPr>
        <p:spPr>
          <a:xfrm>
            <a:off x="2743200" y="1638300"/>
            <a:ext cx="29527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309" name="Text"/>
          <p:cNvSpPr txBox="1"/>
          <p:nvPr/>
        </p:nvSpPr>
        <p:spPr>
          <a:xfrm>
            <a:off x="2838450" y="1724025"/>
            <a:ext cx="2762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典型场景</a:t>
            </a:r>
          </a:p>
        </p:txBody>
      </p:sp>
      <p:sp>
        <p:nvSpPr>
          <p:cNvPr id="310" name="Table Cell"/>
          <p:cNvSpPr txBox="0"/>
          <p:nvPr/>
        </p:nvSpPr>
        <p:spPr>
          <a:xfrm>
            <a:off x="5695950" y="1638300"/>
            <a:ext cx="285750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311" name="Text"/>
          <p:cNvSpPr txBox="1"/>
          <p:nvPr/>
        </p:nvSpPr>
        <p:spPr>
          <a:xfrm>
            <a:off x="5791200" y="172402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312" name="Table Cell"/>
          <p:cNvSpPr txBox="0"/>
          <p:nvPr/>
        </p:nvSpPr>
        <p:spPr>
          <a:xfrm>
            <a:off x="8553450" y="1638300"/>
            <a:ext cx="285750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313" name="Text"/>
          <p:cNvSpPr txBox="1"/>
          <p:nvPr/>
        </p:nvSpPr>
        <p:spPr>
          <a:xfrm>
            <a:off x="8648700" y="172402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注意事项</a:t>
            </a:r>
          </a:p>
        </p:txBody>
      </p:sp>
      <p:sp>
        <p:nvSpPr>
          <p:cNvPr id="314" name="Table Cell"/>
          <p:cNvSpPr txBox="0"/>
          <p:nvPr/>
        </p:nvSpPr>
        <p:spPr>
          <a:xfrm>
            <a:off x="742950" y="2190750"/>
            <a:ext cx="2000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15" name="Text"/>
          <p:cNvSpPr txBox="1"/>
          <p:nvPr/>
        </p:nvSpPr>
        <p:spPr>
          <a:xfrm>
            <a:off x="838200" y="227647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INSERT</a:t>
            </a:r>
          </a:p>
        </p:txBody>
      </p:sp>
      <p:sp>
        <p:nvSpPr>
          <p:cNvPr id="316" name="Table Cell"/>
          <p:cNvSpPr txBox="0"/>
          <p:nvPr/>
        </p:nvSpPr>
        <p:spPr>
          <a:xfrm>
            <a:off x="2743200" y="2190750"/>
            <a:ext cx="2952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17" name="Text"/>
          <p:cNvSpPr txBox="1"/>
          <p:nvPr/>
        </p:nvSpPr>
        <p:spPr>
          <a:xfrm>
            <a:off x="2838450" y="2276475"/>
            <a:ext cx="2762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批量追加明细、离线导入</a:t>
            </a:r>
          </a:p>
        </p:txBody>
      </p:sp>
      <p:sp>
        <p:nvSpPr>
          <p:cNvPr id="318" name="Table Cell"/>
          <p:cNvSpPr txBox="0"/>
          <p:nvPr/>
        </p:nvSpPr>
        <p:spPr>
          <a:xfrm>
            <a:off x="5695950" y="2190750"/>
            <a:ext cx="28575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19" name="Text"/>
          <p:cNvSpPr txBox="1"/>
          <p:nvPr/>
        </p:nvSpPr>
        <p:spPr>
          <a:xfrm>
            <a:off x="5791200" y="227647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简单稳定</a:t>
            </a:r>
          </a:p>
        </p:txBody>
      </p:sp>
      <p:sp>
        <p:nvSpPr>
          <p:cNvPr id="320" name="Table Cell"/>
          <p:cNvSpPr txBox="0"/>
          <p:nvPr/>
        </p:nvSpPr>
        <p:spPr>
          <a:xfrm>
            <a:off x="8553450" y="2190750"/>
            <a:ext cx="28575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21" name="Text"/>
          <p:cNvSpPr txBox="1"/>
          <p:nvPr/>
        </p:nvSpPr>
        <p:spPr>
          <a:xfrm>
            <a:off x="8648700" y="227647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控制文件大小</a:t>
            </a:r>
          </a:p>
        </p:txBody>
      </p:sp>
      <p:sp>
        <p:nvSpPr>
          <p:cNvPr id="322" name="Table Cell"/>
          <p:cNvSpPr txBox="0"/>
          <p:nvPr/>
        </p:nvSpPr>
        <p:spPr>
          <a:xfrm>
            <a:off x="742950" y="2743200"/>
            <a:ext cx="2000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23" name="Text"/>
          <p:cNvSpPr txBox="1"/>
          <p:nvPr/>
        </p:nvSpPr>
        <p:spPr>
          <a:xfrm>
            <a:off x="838200" y="282892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MERGE INTO</a:t>
            </a:r>
          </a:p>
        </p:txBody>
      </p:sp>
      <p:sp>
        <p:nvSpPr>
          <p:cNvPr id="324" name="Table Cell"/>
          <p:cNvSpPr txBox="0"/>
          <p:nvPr/>
        </p:nvSpPr>
        <p:spPr>
          <a:xfrm>
            <a:off x="2743200" y="2743200"/>
            <a:ext cx="2952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25" name="Text"/>
          <p:cNvSpPr txBox="1"/>
          <p:nvPr/>
        </p:nvSpPr>
        <p:spPr>
          <a:xfrm>
            <a:off x="2838450" y="2828925"/>
            <a:ext cx="2762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维表更新、CDC 合并</a:t>
            </a:r>
          </a:p>
        </p:txBody>
      </p:sp>
      <p:sp>
        <p:nvSpPr>
          <p:cNvPr id="326" name="Table Cell"/>
          <p:cNvSpPr txBox="0"/>
          <p:nvPr/>
        </p:nvSpPr>
        <p:spPr>
          <a:xfrm>
            <a:off x="5695950" y="2743200"/>
            <a:ext cx="28575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27" name="Text"/>
          <p:cNvSpPr txBox="1"/>
          <p:nvPr/>
        </p:nvSpPr>
        <p:spPr>
          <a:xfrm>
            <a:off x="5791200" y="282892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只替换受影响文件</a:t>
            </a:r>
          </a:p>
        </p:txBody>
      </p:sp>
      <p:sp>
        <p:nvSpPr>
          <p:cNvPr id="328" name="Table Cell"/>
          <p:cNvSpPr txBox="0"/>
          <p:nvPr/>
        </p:nvSpPr>
        <p:spPr>
          <a:xfrm>
            <a:off x="8553450" y="2743200"/>
            <a:ext cx="28575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29" name="Text"/>
          <p:cNvSpPr txBox="1"/>
          <p:nvPr/>
        </p:nvSpPr>
        <p:spPr>
          <a:xfrm>
            <a:off x="8648700" y="282892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条件要唯一、避免大范围改写</a:t>
            </a:r>
          </a:p>
        </p:txBody>
      </p:sp>
      <p:sp>
        <p:nvSpPr>
          <p:cNvPr id="330" name="Table Cell"/>
          <p:cNvSpPr txBox="0"/>
          <p:nvPr/>
        </p:nvSpPr>
        <p:spPr>
          <a:xfrm>
            <a:off x="742950" y="3295650"/>
            <a:ext cx="2000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31" name="Text"/>
          <p:cNvSpPr txBox="1"/>
          <p:nvPr/>
        </p:nvSpPr>
        <p:spPr>
          <a:xfrm>
            <a:off x="838200" y="338137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DELETE / UPDATE</a:t>
            </a:r>
          </a:p>
        </p:txBody>
      </p:sp>
      <p:sp>
        <p:nvSpPr>
          <p:cNvPr id="332" name="Table Cell"/>
          <p:cNvSpPr txBox="0"/>
          <p:nvPr/>
        </p:nvSpPr>
        <p:spPr>
          <a:xfrm>
            <a:off x="2743200" y="3295650"/>
            <a:ext cx="2952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33" name="Text"/>
          <p:cNvSpPr txBox="1"/>
          <p:nvPr/>
        </p:nvSpPr>
        <p:spPr>
          <a:xfrm>
            <a:off x="2838450" y="3381375"/>
            <a:ext cx="2762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纠错、合规删除</a:t>
            </a:r>
          </a:p>
        </p:txBody>
      </p:sp>
      <p:sp>
        <p:nvSpPr>
          <p:cNvPr id="334" name="Table Cell"/>
          <p:cNvSpPr txBox="0"/>
          <p:nvPr/>
        </p:nvSpPr>
        <p:spPr>
          <a:xfrm>
            <a:off x="5695950" y="3295650"/>
            <a:ext cx="28575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35" name="Text"/>
          <p:cNvSpPr txBox="1"/>
          <p:nvPr/>
        </p:nvSpPr>
        <p:spPr>
          <a:xfrm>
            <a:off x="5791200" y="338137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表级语义清晰</a:t>
            </a:r>
          </a:p>
        </p:txBody>
      </p:sp>
      <p:sp>
        <p:nvSpPr>
          <p:cNvPr id="336" name="Table Cell"/>
          <p:cNvSpPr txBox="0"/>
          <p:nvPr/>
        </p:nvSpPr>
        <p:spPr>
          <a:xfrm>
            <a:off x="8553450" y="3295650"/>
            <a:ext cx="28575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37" name="Text"/>
          <p:cNvSpPr txBox="1"/>
          <p:nvPr/>
        </p:nvSpPr>
        <p:spPr>
          <a:xfrm>
            <a:off x="8648700" y="338137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底层可能重写文件或写 delete file</a:t>
            </a:r>
          </a:p>
        </p:txBody>
      </p:sp>
      <p:sp>
        <p:nvSpPr>
          <p:cNvPr id="338" name="Table Cell"/>
          <p:cNvSpPr txBox="0"/>
          <p:nvPr/>
        </p:nvSpPr>
        <p:spPr>
          <a:xfrm>
            <a:off x="742950" y="3848100"/>
            <a:ext cx="2000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39" name="Text"/>
          <p:cNvSpPr txBox="1"/>
          <p:nvPr/>
        </p:nvSpPr>
        <p:spPr>
          <a:xfrm>
            <a:off x="838200" y="393382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Streaming Sink</a:t>
            </a:r>
          </a:p>
        </p:txBody>
      </p:sp>
      <p:sp>
        <p:nvSpPr>
          <p:cNvPr id="340" name="Table Cell"/>
          <p:cNvSpPr txBox="0"/>
          <p:nvPr/>
        </p:nvSpPr>
        <p:spPr>
          <a:xfrm>
            <a:off x="2743200" y="3848100"/>
            <a:ext cx="2952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41" name="Text"/>
          <p:cNvSpPr txBox="1"/>
          <p:nvPr/>
        </p:nvSpPr>
        <p:spPr>
          <a:xfrm>
            <a:off x="2838450" y="3933825"/>
            <a:ext cx="2762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实时明细入湖</a:t>
            </a:r>
          </a:p>
        </p:txBody>
      </p:sp>
      <p:sp>
        <p:nvSpPr>
          <p:cNvPr id="342" name="Table Cell"/>
          <p:cNvSpPr txBox="0"/>
          <p:nvPr/>
        </p:nvSpPr>
        <p:spPr>
          <a:xfrm>
            <a:off x="5695950" y="3848100"/>
            <a:ext cx="28575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43" name="Text"/>
          <p:cNvSpPr txBox="1"/>
          <p:nvPr/>
        </p:nvSpPr>
        <p:spPr>
          <a:xfrm>
            <a:off x="5791200" y="393382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统一流批表</a:t>
            </a:r>
          </a:p>
        </p:txBody>
      </p:sp>
      <p:sp>
        <p:nvSpPr>
          <p:cNvPr id="344" name="Table Cell"/>
          <p:cNvSpPr txBox="0"/>
          <p:nvPr/>
        </p:nvSpPr>
        <p:spPr>
          <a:xfrm>
            <a:off x="8553450" y="3848100"/>
            <a:ext cx="28575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345" name="Text"/>
          <p:cNvSpPr txBox="1"/>
          <p:nvPr/>
        </p:nvSpPr>
        <p:spPr>
          <a:xfrm>
            <a:off x="8648700" y="3933825"/>
            <a:ext cx="2667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checkpoint、commit 频率、小文件治理</a:t>
            </a:r>
          </a:p>
        </p:txBody>
      </p:sp>
      <p:sp>
        <p:nvSpPr>
          <p:cNvPr id="346" name="Text"/>
          <p:cNvSpPr txBox="1"/>
          <p:nvPr/>
        </p:nvSpPr>
        <p:spPr>
          <a:xfrm>
            <a:off x="1066800" y="5486400"/>
            <a:ext cx="1000125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实践建议：优先让所有写入路径都通过 Iceberg API/引擎连接器提交，避免直接把文件丢进表目录。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建表示例：Spark SQL 创建 Iceberg 表</a:t>
            </a:r>
          </a:p>
        </p:txBody>
      </p:sp>
      <p:sp>
        <p:nvSpPr>
          <p:cNvPr id="348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DDL 中同时表达 schema、分区、表属性和存储位置。</a:t>
            </a:r>
          </a:p>
        </p:txBody>
      </p:sp>
      <p:sp>
        <p:nvSpPr>
          <p:cNvPr id="349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350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51" name="Code Block"/>
          <p:cNvSpPr txBox="0"/>
          <p:nvPr/>
        </p:nvSpPr>
        <p:spPr>
          <a:xfrm>
            <a:off x="723900" y="1581150"/>
            <a:ext cx="5943600" cy="39433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52" name="Text"/>
          <p:cNvSpPr txBox="1"/>
          <p:nvPr/>
        </p:nvSpPr>
        <p:spPr>
          <a:xfrm>
            <a:off x="895350" y="1714500"/>
            <a:ext cx="56007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示例 DDL</a:t>
            </a:r>
          </a:p>
        </p:txBody>
      </p:sp>
      <p:sp>
        <p:nvSpPr>
          <p:cNvPr id="353" name="Text"/>
          <p:cNvSpPr txBox="1"/>
          <p:nvPr/>
        </p:nvSpPr>
        <p:spPr>
          <a:xfrm>
            <a:off x="895350" y="2000250"/>
            <a:ext cx="5600700" cy="3448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CREATE TABLE prod.telecom.cell_kpi_1min (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ts TIMESTAMP,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province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city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cell_id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vendor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availability DOUBLE,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traffic_mb DOUBLE,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prb_util DOUBLE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USING iceberg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PARTITIONED BY (days(ts), bucket(32, cell_id))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TBLPROPERTIES (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'format-version'='2',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'write.target-file-size-bytes'='536870912'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);</a:t>
            </a:r>
          </a:p>
        </p:txBody>
      </p:sp>
      <p:sp>
        <p:nvSpPr>
          <p:cNvPr id="354" name="Card"/>
          <p:cNvSpPr txBox="0"/>
          <p:nvPr/>
        </p:nvSpPr>
        <p:spPr>
          <a:xfrm>
            <a:off x="7124700" y="1657350"/>
            <a:ext cx="3619500" cy="10668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355" name="Accent"/>
          <p:cNvSpPr txBox="0"/>
          <p:nvPr/>
        </p:nvSpPr>
        <p:spPr>
          <a:xfrm>
            <a:off x="7124700" y="1657350"/>
            <a:ext cx="57150" cy="106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356" name="Text"/>
          <p:cNvSpPr txBox="1"/>
          <p:nvPr/>
        </p:nvSpPr>
        <p:spPr>
          <a:xfrm>
            <a:off x="7315200" y="1828800"/>
            <a:ext cx="3257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分区选择</a:t>
            </a:r>
          </a:p>
        </p:txBody>
      </p:sp>
      <p:sp>
        <p:nvSpPr>
          <p:cNvPr id="357" name="Text"/>
          <p:cNvSpPr txBox="1"/>
          <p:nvPr/>
        </p:nvSpPr>
        <p:spPr>
          <a:xfrm>
            <a:off x="7315200" y="2190750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按时间范围过滤：days(ts)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按实体过滤：bucket(cell_id)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避免暴露物理分区列</a:t>
            </a:r>
          </a:p>
        </p:txBody>
      </p:sp>
      <p:sp>
        <p:nvSpPr>
          <p:cNvPr id="358" name="Card"/>
          <p:cNvSpPr txBox="0"/>
          <p:nvPr/>
        </p:nvSpPr>
        <p:spPr>
          <a:xfrm>
            <a:off x="7124700" y="3124200"/>
            <a:ext cx="3619500" cy="10668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359" name="Accent"/>
          <p:cNvSpPr txBox="0"/>
          <p:nvPr/>
        </p:nvSpPr>
        <p:spPr>
          <a:xfrm>
            <a:off x="7124700" y="3124200"/>
            <a:ext cx="57150" cy="106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60" name="Text"/>
          <p:cNvSpPr txBox="1"/>
          <p:nvPr/>
        </p:nvSpPr>
        <p:spPr>
          <a:xfrm>
            <a:off x="7315200" y="3295650"/>
            <a:ext cx="3257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表属性</a:t>
            </a:r>
          </a:p>
        </p:txBody>
      </p:sp>
      <p:sp>
        <p:nvSpPr>
          <p:cNvPr id="361" name="Text"/>
          <p:cNvSpPr txBox="1"/>
          <p:nvPr/>
        </p:nvSpPr>
        <p:spPr>
          <a:xfrm>
            <a:off x="7315200" y="3657600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format-version=2 支持更多行级能力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target-file-size 控制小文件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属性应纳入平台规范</a:t>
            </a:r>
          </a:p>
        </p:txBody>
      </p:sp>
      <p:sp>
        <p:nvSpPr>
          <p:cNvPr id="362" name="Card"/>
          <p:cNvSpPr txBox="0"/>
          <p:nvPr/>
        </p:nvSpPr>
        <p:spPr>
          <a:xfrm>
            <a:off x="7124700" y="4591050"/>
            <a:ext cx="3619500" cy="10668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363" name="Accent"/>
          <p:cNvSpPr txBox="0"/>
          <p:nvPr/>
        </p:nvSpPr>
        <p:spPr>
          <a:xfrm>
            <a:off x="7124700" y="459105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64" name="Text"/>
          <p:cNvSpPr txBox="1"/>
          <p:nvPr/>
        </p:nvSpPr>
        <p:spPr>
          <a:xfrm>
            <a:off x="7315200" y="4762500"/>
            <a:ext cx="3257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Catalog</a:t>
            </a:r>
          </a:p>
        </p:txBody>
      </p:sp>
      <p:sp>
        <p:nvSpPr>
          <p:cNvPr id="365" name="Text"/>
          <p:cNvSpPr txBox="1"/>
          <p:nvPr/>
        </p:nvSpPr>
        <p:spPr>
          <a:xfrm>
            <a:off x="7315200" y="5124450"/>
            <a:ext cx="3238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生产中建议统一 Catalog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权限、命名、环境隔离都在这里治理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读写示例：Merge 与 Time Travel</a:t>
            </a:r>
          </a:p>
        </p:txBody>
      </p:sp>
      <p:sp>
        <p:nvSpPr>
          <p:cNvPr id="367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这页可以直接作为团队 demo 的脚本骨架。</a:t>
            </a:r>
          </a:p>
        </p:txBody>
      </p:sp>
      <p:sp>
        <p:nvSpPr>
          <p:cNvPr id="368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369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370" name="Code Block"/>
          <p:cNvSpPr txBox="0"/>
          <p:nvPr/>
        </p:nvSpPr>
        <p:spPr>
          <a:xfrm>
            <a:off x="666750" y="1581150"/>
            <a:ext cx="5162550" cy="20193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71" name="Text"/>
          <p:cNvSpPr txBox="1"/>
          <p:nvPr/>
        </p:nvSpPr>
        <p:spPr>
          <a:xfrm>
            <a:off x="838200" y="1714500"/>
            <a:ext cx="48196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合并增量</a:t>
            </a:r>
          </a:p>
        </p:txBody>
      </p:sp>
      <p:sp>
        <p:nvSpPr>
          <p:cNvPr id="372" name="Text"/>
          <p:cNvSpPr txBox="1"/>
          <p:nvPr/>
        </p:nvSpPr>
        <p:spPr>
          <a:xfrm>
            <a:off x="838200" y="2000250"/>
            <a:ext cx="481965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MERGE INTO prod.telecom.cell_kpi_1min t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USING staging.cell_kpi_delta s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ON t.ts = s.ts AND t.cell_id = s.cell_id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WHEN MATCHED THEN UPDATE SET *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WHEN NOT MATCHED THEN INSERT *;</a:t>
            </a:r>
          </a:p>
        </p:txBody>
      </p:sp>
      <p:sp>
        <p:nvSpPr>
          <p:cNvPr id="373" name="Code Block"/>
          <p:cNvSpPr txBox="0"/>
          <p:nvPr/>
        </p:nvSpPr>
        <p:spPr>
          <a:xfrm>
            <a:off x="666750" y="3924300"/>
            <a:ext cx="516255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74" name="Text"/>
          <p:cNvSpPr txBox="1"/>
          <p:nvPr/>
        </p:nvSpPr>
        <p:spPr>
          <a:xfrm>
            <a:off x="838200" y="4057650"/>
            <a:ext cx="48196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按时间读取历史版本</a:t>
            </a:r>
          </a:p>
        </p:txBody>
      </p:sp>
      <p:sp>
        <p:nvSpPr>
          <p:cNvPr id="375" name="Text"/>
          <p:cNvSpPr txBox="1"/>
          <p:nvPr/>
        </p:nvSpPr>
        <p:spPr>
          <a:xfrm>
            <a:off x="838200" y="4343400"/>
            <a:ext cx="48196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*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prod.telecom.cell_kpi_1min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TIMESTAMP AS OF '2026-07-01 00:00:00';</a:t>
            </a:r>
          </a:p>
        </p:txBody>
      </p:sp>
      <p:sp>
        <p:nvSpPr>
          <p:cNvPr id="376" name="Card"/>
          <p:cNvSpPr txBox="0"/>
          <p:nvPr/>
        </p:nvSpPr>
        <p:spPr>
          <a:xfrm>
            <a:off x="6515100" y="1638300"/>
            <a:ext cx="400050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377" name="Accent"/>
          <p:cNvSpPr txBox="0"/>
          <p:nvPr/>
        </p:nvSpPr>
        <p:spPr>
          <a:xfrm>
            <a:off x="6515100" y="1638300"/>
            <a:ext cx="57150" cy="11049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378" name="Text"/>
          <p:cNvSpPr txBox="1"/>
          <p:nvPr/>
        </p:nvSpPr>
        <p:spPr>
          <a:xfrm>
            <a:off x="6705600" y="180975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Merge 的语义</a:t>
            </a:r>
          </a:p>
        </p:txBody>
      </p:sp>
      <p:sp>
        <p:nvSpPr>
          <p:cNvPr id="379" name="Text"/>
          <p:cNvSpPr txBox="1"/>
          <p:nvPr/>
        </p:nvSpPr>
        <p:spPr>
          <a:xfrm>
            <a:off x="6705600" y="217170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表达业务主键匹配关系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Iceberg 只替换受影响的数据文件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比整分区 overwrite 更可控</a:t>
            </a:r>
          </a:p>
        </p:txBody>
      </p:sp>
      <p:sp>
        <p:nvSpPr>
          <p:cNvPr id="380" name="Card"/>
          <p:cNvSpPr txBox="0"/>
          <p:nvPr/>
        </p:nvSpPr>
        <p:spPr>
          <a:xfrm>
            <a:off x="6515100" y="3143250"/>
            <a:ext cx="4000500" cy="11049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381" name="Accent"/>
          <p:cNvSpPr txBox="0"/>
          <p:nvPr/>
        </p:nvSpPr>
        <p:spPr>
          <a:xfrm>
            <a:off x="6515100" y="3143250"/>
            <a:ext cx="57150" cy="11049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82" name="Text"/>
          <p:cNvSpPr txBox="1"/>
          <p:nvPr/>
        </p:nvSpPr>
        <p:spPr>
          <a:xfrm>
            <a:off x="6705600" y="331470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时间旅行的语义</a:t>
            </a:r>
          </a:p>
        </p:txBody>
      </p:sp>
      <p:sp>
        <p:nvSpPr>
          <p:cNvPr id="383" name="Text"/>
          <p:cNvSpPr txBox="1"/>
          <p:nvPr/>
        </p:nvSpPr>
        <p:spPr>
          <a:xfrm>
            <a:off x="6705600" y="3676650"/>
            <a:ext cx="3619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查询历史快照，而不是备份目录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适合对账、复现、误操作确认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历史是否存在取决于快照保留</a:t>
            </a:r>
          </a:p>
        </p:txBody>
      </p:sp>
      <p:sp>
        <p:nvSpPr>
          <p:cNvPr id="384" name="Card"/>
          <p:cNvSpPr txBox="0"/>
          <p:nvPr/>
        </p:nvSpPr>
        <p:spPr>
          <a:xfrm>
            <a:off x="6515100" y="4648200"/>
            <a:ext cx="4000500" cy="9144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385" name="Accent"/>
          <p:cNvSpPr txBox="0"/>
          <p:nvPr/>
        </p:nvSpPr>
        <p:spPr>
          <a:xfrm>
            <a:off x="6515100" y="4648200"/>
            <a:ext cx="5715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86" name="Text"/>
          <p:cNvSpPr txBox="1"/>
          <p:nvPr/>
        </p:nvSpPr>
        <p:spPr>
          <a:xfrm>
            <a:off x="6705600" y="481965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演示提醒</a:t>
            </a:r>
          </a:p>
        </p:txBody>
      </p:sp>
      <p:sp>
        <p:nvSpPr>
          <p:cNvPr id="387" name="Text"/>
          <p:cNvSpPr txBox="1"/>
          <p:nvPr/>
        </p:nvSpPr>
        <p:spPr>
          <a:xfrm>
            <a:off x="6705600" y="5181600"/>
            <a:ext cx="36195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先查 snapshots 取得版本号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再对比当前版本和历史版本结果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维护动作：让表长期保持健康</a:t>
            </a:r>
          </a:p>
        </p:txBody>
      </p:sp>
      <p:sp>
        <p:nvSpPr>
          <p:cNvPr id="389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不会自动替你完成所有清理和整理；生产中需要周期性维护。</a:t>
            </a:r>
          </a:p>
        </p:txBody>
      </p:sp>
      <p:sp>
        <p:nvSpPr>
          <p:cNvPr id="390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391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92" name="Table Cell"/>
          <p:cNvSpPr txBox="0"/>
          <p:nvPr/>
        </p:nvSpPr>
        <p:spPr>
          <a:xfrm>
            <a:off x="704850" y="1581150"/>
            <a:ext cx="25717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393" name="Text"/>
          <p:cNvSpPr txBox="1"/>
          <p:nvPr/>
        </p:nvSpPr>
        <p:spPr>
          <a:xfrm>
            <a:off x="800100" y="166687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394" name="Table Cell"/>
          <p:cNvSpPr txBox="0"/>
          <p:nvPr/>
        </p:nvSpPr>
        <p:spPr>
          <a:xfrm>
            <a:off x="3276600" y="1581150"/>
            <a:ext cx="31432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395" name="Text"/>
          <p:cNvSpPr txBox="1"/>
          <p:nvPr/>
        </p:nvSpPr>
        <p:spPr>
          <a:xfrm>
            <a:off x="3371850" y="166687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解决什么问题</a:t>
            </a:r>
          </a:p>
        </p:txBody>
      </p:sp>
      <p:sp>
        <p:nvSpPr>
          <p:cNvPr id="396" name="Table Cell"/>
          <p:cNvSpPr txBox="0"/>
          <p:nvPr/>
        </p:nvSpPr>
        <p:spPr>
          <a:xfrm>
            <a:off x="6419850" y="1581150"/>
            <a:ext cx="25717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397" name="Text"/>
          <p:cNvSpPr txBox="1"/>
          <p:nvPr/>
        </p:nvSpPr>
        <p:spPr>
          <a:xfrm>
            <a:off x="6515100" y="166687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常用入口</a:t>
            </a:r>
          </a:p>
        </p:txBody>
      </p:sp>
      <p:sp>
        <p:nvSpPr>
          <p:cNvPr id="398" name="Table Cell"/>
          <p:cNvSpPr txBox="0"/>
          <p:nvPr/>
        </p:nvSpPr>
        <p:spPr>
          <a:xfrm>
            <a:off x="8991600" y="1581150"/>
            <a:ext cx="23812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399" name="Text"/>
          <p:cNvSpPr txBox="1"/>
          <p:nvPr/>
        </p:nvSpPr>
        <p:spPr>
          <a:xfrm>
            <a:off x="9086850" y="1666875"/>
            <a:ext cx="2190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建议频率</a:t>
            </a:r>
          </a:p>
        </p:txBody>
      </p:sp>
      <p:sp>
        <p:nvSpPr>
          <p:cNvPr id="400" name="Table Cell"/>
          <p:cNvSpPr txBox="0"/>
          <p:nvPr/>
        </p:nvSpPr>
        <p:spPr>
          <a:xfrm>
            <a:off x="704850" y="2133600"/>
            <a:ext cx="2571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01" name="Text"/>
          <p:cNvSpPr txBox="1"/>
          <p:nvPr/>
        </p:nvSpPr>
        <p:spPr>
          <a:xfrm>
            <a:off x="800100" y="221932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expire_snapshots</a:t>
            </a:r>
          </a:p>
        </p:txBody>
      </p:sp>
      <p:sp>
        <p:nvSpPr>
          <p:cNvPr id="402" name="Table Cell"/>
          <p:cNvSpPr txBox="0"/>
          <p:nvPr/>
        </p:nvSpPr>
        <p:spPr>
          <a:xfrm>
            <a:off x="3276600" y="2133600"/>
            <a:ext cx="3143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03" name="Text"/>
          <p:cNvSpPr txBox="1"/>
          <p:nvPr/>
        </p:nvSpPr>
        <p:spPr>
          <a:xfrm>
            <a:off x="3371850" y="221932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历史快照和旧文件占空间</a:t>
            </a:r>
          </a:p>
        </p:txBody>
      </p:sp>
      <p:sp>
        <p:nvSpPr>
          <p:cNvPr id="404" name="Table Cell"/>
          <p:cNvSpPr txBox="0"/>
          <p:nvPr/>
        </p:nvSpPr>
        <p:spPr>
          <a:xfrm>
            <a:off x="6419850" y="2133600"/>
            <a:ext cx="2571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05" name="Text"/>
          <p:cNvSpPr txBox="1"/>
          <p:nvPr/>
        </p:nvSpPr>
        <p:spPr>
          <a:xfrm>
            <a:off x="6515100" y="221932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CALL ... expire_snapshots</a:t>
            </a:r>
          </a:p>
        </p:txBody>
      </p:sp>
      <p:sp>
        <p:nvSpPr>
          <p:cNvPr id="406" name="Table Cell"/>
          <p:cNvSpPr txBox="0"/>
          <p:nvPr/>
        </p:nvSpPr>
        <p:spPr>
          <a:xfrm>
            <a:off x="8991600" y="2133600"/>
            <a:ext cx="2381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07" name="Text"/>
          <p:cNvSpPr txBox="1"/>
          <p:nvPr/>
        </p:nvSpPr>
        <p:spPr>
          <a:xfrm>
            <a:off x="9086850" y="2219325"/>
            <a:ext cx="2190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按保留策略定期</a:t>
            </a:r>
          </a:p>
        </p:txBody>
      </p:sp>
      <p:sp>
        <p:nvSpPr>
          <p:cNvPr id="408" name="Table Cell"/>
          <p:cNvSpPr txBox="0"/>
          <p:nvPr/>
        </p:nvSpPr>
        <p:spPr>
          <a:xfrm>
            <a:off x="704850" y="2686050"/>
            <a:ext cx="2571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09" name="Text"/>
          <p:cNvSpPr txBox="1"/>
          <p:nvPr/>
        </p:nvSpPr>
        <p:spPr>
          <a:xfrm>
            <a:off x="800100" y="277177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rewrite_data_files</a:t>
            </a:r>
          </a:p>
        </p:txBody>
      </p:sp>
      <p:sp>
        <p:nvSpPr>
          <p:cNvPr id="410" name="Table Cell"/>
          <p:cNvSpPr txBox="0"/>
          <p:nvPr/>
        </p:nvSpPr>
        <p:spPr>
          <a:xfrm>
            <a:off x="3276600" y="2686050"/>
            <a:ext cx="3143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11" name="Text"/>
          <p:cNvSpPr txBox="1"/>
          <p:nvPr/>
        </p:nvSpPr>
        <p:spPr>
          <a:xfrm>
            <a:off x="3371850" y="277177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小文件过多、扫描开销高</a:t>
            </a:r>
          </a:p>
        </p:txBody>
      </p:sp>
      <p:sp>
        <p:nvSpPr>
          <p:cNvPr id="412" name="Table Cell"/>
          <p:cNvSpPr txBox="0"/>
          <p:nvPr/>
        </p:nvSpPr>
        <p:spPr>
          <a:xfrm>
            <a:off x="6419850" y="2686050"/>
            <a:ext cx="2571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13" name="Text"/>
          <p:cNvSpPr txBox="1"/>
          <p:nvPr/>
        </p:nvSpPr>
        <p:spPr>
          <a:xfrm>
            <a:off x="6515100" y="277177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CALL ... rewrite_data_files</a:t>
            </a:r>
          </a:p>
        </p:txBody>
      </p:sp>
      <p:sp>
        <p:nvSpPr>
          <p:cNvPr id="414" name="Table Cell"/>
          <p:cNvSpPr txBox="0"/>
          <p:nvPr/>
        </p:nvSpPr>
        <p:spPr>
          <a:xfrm>
            <a:off x="8991600" y="2686050"/>
            <a:ext cx="2381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15" name="Text"/>
          <p:cNvSpPr txBox="1"/>
          <p:nvPr/>
        </p:nvSpPr>
        <p:spPr>
          <a:xfrm>
            <a:off x="9086850" y="2771775"/>
            <a:ext cx="2190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写入高峰后或每日</a:t>
            </a:r>
          </a:p>
        </p:txBody>
      </p:sp>
      <p:sp>
        <p:nvSpPr>
          <p:cNvPr id="416" name="Table Cell"/>
          <p:cNvSpPr txBox="0"/>
          <p:nvPr/>
        </p:nvSpPr>
        <p:spPr>
          <a:xfrm>
            <a:off x="704850" y="3238500"/>
            <a:ext cx="2571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17" name="Text"/>
          <p:cNvSpPr txBox="1"/>
          <p:nvPr/>
        </p:nvSpPr>
        <p:spPr>
          <a:xfrm>
            <a:off x="800100" y="332422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rewrite_manifests</a:t>
            </a:r>
          </a:p>
        </p:txBody>
      </p:sp>
      <p:sp>
        <p:nvSpPr>
          <p:cNvPr id="418" name="Table Cell"/>
          <p:cNvSpPr txBox="0"/>
          <p:nvPr/>
        </p:nvSpPr>
        <p:spPr>
          <a:xfrm>
            <a:off x="3276600" y="3238500"/>
            <a:ext cx="3143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19" name="Text"/>
          <p:cNvSpPr txBox="1"/>
          <p:nvPr/>
        </p:nvSpPr>
        <p:spPr>
          <a:xfrm>
            <a:off x="3371850" y="332422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manifest 与查询模式不匹配</a:t>
            </a:r>
          </a:p>
        </p:txBody>
      </p:sp>
      <p:sp>
        <p:nvSpPr>
          <p:cNvPr id="420" name="Table Cell"/>
          <p:cNvSpPr txBox="0"/>
          <p:nvPr/>
        </p:nvSpPr>
        <p:spPr>
          <a:xfrm>
            <a:off x="6419850" y="3238500"/>
            <a:ext cx="2571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21" name="Text"/>
          <p:cNvSpPr txBox="1"/>
          <p:nvPr/>
        </p:nvSpPr>
        <p:spPr>
          <a:xfrm>
            <a:off x="6515100" y="332422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CALL ... rewrite_manifests</a:t>
            </a:r>
          </a:p>
        </p:txBody>
      </p:sp>
      <p:sp>
        <p:nvSpPr>
          <p:cNvPr id="422" name="Table Cell"/>
          <p:cNvSpPr txBox="0"/>
          <p:nvPr/>
        </p:nvSpPr>
        <p:spPr>
          <a:xfrm>
            <a:off x="8991600" y="3238500"/>
            <a:ext cx="2381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23" name="Text"/>
          <p:cNvSpPr txBox="1"/>
          <p:nvPr/>
        </p:nvSpPr>
        <p:spPr>
          <a:xfrm>
            <a:off x="9086850" y="3324225"/>
            <a:ext cx="2190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规划耗时异常时</a:t>
            </a:r>
          </a:p>
        </p:txBody>
      </p:sp>
      <p:sp>
        <p:nvSpPr>
          <p:cNvPr id="424" name="Table Cell"/>
          <p:cNvSpPr txBox="0"/>
          <p:nvPr/>
        </p:nvSpPr>
        <p:spPr>
          <a:xfrm>
            <a:off x="704850" y="3790950"/>
            <a:ext cx="2571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25" name="Text"/>
          <p:cNvSpPr txBox="1"/>
          <p:nvPr/>
        </p:nvSpPr>
        <p:spPr>
          <a:xfrm>
            <a:off x="800100" y="387667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remove_orphan_files</a:t>
            </a:r>
          </a:p>
        </p:txBody>
      </p:sp>
      <p:sp>
        <p:nvSpPr>
          <p:cNvPr id="426" name="Table Cell"/>
          <p:cNvSpPr txBox="0"/>
          <p:nvPr/>
        </p:nvSpPr>
        <p:spPr>
          <a:xfrm>
            <a:off x="3276600" y="3790950"/>
            <a:ext cx="3143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27" name="Text"/>
          <p:cNvSpPr txBox="1"/>
          <p:nvPr/>
        </p:nvSpPr>
        <p:spPr>
          <a:xfrm>
            <a:off x="3371850" y="387667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失败任务遗留孤儿文件</a:t>
            </a:r>
          </a:p>
        </p:txBody>
      </p:sp>
      <p:sp>
        <p:nvSpPr>
          <p:cNvPr id="428" name="Table Cell"/>
          <p:cNvSpPr txBox="0"/>
          <p:nvPr/>
        </p:nvSpPr>
        <p:spPr>
          <a:xfrm>
            <a:off x="6419850" y="3790950"/>
            <a:ext cx="2571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29" name="Text"/>
          <p:cNvSpPr txBox="1"/>
          <p:nvPr/>
        </p:nvSpPr>
        <p:spPr>
          <a:xfrm>
            <a:off x="6515100" y="3876675"/>
            <a:ext cx="2381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CALL ... remove_orphan_files</a:t>
            </a:r>
          </a:p>
        </p:txBody>
      </p:sp>
      <p:sp>
        <p:nvSpPr>
          <p:cNvPr id="430" name="Table Cell"/>
          <p:cNvSpPr txBox="0"/>
          <p:nvPr/>
        </p:nvSpPr>
        <p:spPr>
          <a:xfrm>
            <a:off x="8991600" y="3790950"/>
            <a:ext cx="2381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31" name="Text"/>
          <p:cNvSpPr txBox="1"/>
          <p:nvPr/>
        </p:nvSpPr>
        <p:spPr>
          <a:xfrm>
            <a:off x="9086850" y="3876675"/>
            <a:ext cx="2190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谨慎 dry-run 后执行</a:t>
            </a:r>
          </a:p>
        </p:txBody>
      </p:sp>
      <p:sp>
        <p:nvSpPr>
          <p:cNvPr id="432" name="Text"/>
          <p:cNvSpPr txBox="1"/>
          <p:nvPr/>
        </p:nvSpPr>
        <p:spPr>
          <a:xfrm>
            <a:off x="876300" y="5524500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维护原则：先观测，再 dry-run，再执行；保留窗口要覆盖审计、回滚和下游延迟消费需求。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性能设计：真正影响扫描效率的因素</a:t>
            </a:r>
          </a:p>
        </p:txBody>
      </p:sp>
      <p:sp>
        <p:nvSpPr>
          <p:cNvPr id="434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提供元数据剪枝能力，但性能仍取决于文件、分区、排序和维护策略。</a:t>
            </a:r>
          </a:p>
        </p:txBody>
      </p:sp>
      <p:sp>
        <p:nvSpPr>
          <p:cNvPr id="435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436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37" name="Card"/>
          <p:cNvSpPr txBox="0"/>
          <p:nvPr/>
        </p:nvSpPr>
        <p:spPr>
          <a:xfrm>
            <a:off x="685800" y="1581150"/>
            <a:ext cx="2457450" cy="21717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438" name="Accent"/>
          <p:cNvSpPr txBox="0"/>
          <p:nvPr/>
        </p:nvSpPr>
        <p:spPr>
          <a:xfrm>
            <a:off x="685800" y="1581150"/>
            <a:ext cx="57150" cy="21717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39" name="Text"/>
          <p:cNvSpPr txBox="1"/>
          <p:nvPr/>
        </p:nvSpPr>
        <p:spPr>
          <a:xfrm>
            <a:off x="876300" y="17526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文件大小</a:t>
            </a:r>
          </a:p>
        </p:txBody>
      </p:sp>
      <p:sp>
        <p:nvSpPr>
          <p:cNvPr id="440" name="Text"/>
          <p:cNvSpPr txBox="1"/>
          <p:nvPr/>
        </p:nvSpPr>
        <p:spPr>
          <a:xfrm>
            <a:off x="876300" y="2114550"/>
            <a:ext cx="2076450" cy="1504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小文件多会增加 planning 和 open cost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过大文件会降低并行度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常见目标：256MB-1GB 量级</a:t>
            </a:r>
          </a:p>
        </p:txBody>
      </p:sp>
      <p:sp>
        <p:nvSpPr>
          <p:cNvPr id="441" name="Card"/>
          <p:cNvSpPr txBox="0"/>
          <p:nvPr/>
        </p:nvSpPr>
        <p:spPr>
          <a:xfrm>
            <a:off x="3505200" y="1581150"/>
            <a:ext cx="2457450" cy="21717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442" name="Accent"/>
          <p:cNvSpPr txBox="0"/>
          <p:nvPr/>
        </p:nvSpPr>
        <p:spPr>
          <a:xfrm>
            <a:off x="3505200" y="1581150"/>
            <a:ext cx="57150" cy="2171700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443" name="Text"/>
          <p:cNvSpPr txBox="1"/>
          <p:nvPr/>
        </p:nvSpPr>
        <p:spPr>
          <a:xfrm>
            <a:off x="3695700" y="17526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分区策略</a:t>
            </a:r>
          </a:p>
        </p:txBody>
      </p:sp>
      <p:sp>
        <p:nvSpPr>
          <p:cNvPr id="444" name="Text"/>
          <p:cNvSpPr txBox="1"/>
          <p:nvPr/>
        </p:nvSpPr>
        <p:spPr>
          <a:xfrm>
            <a:off x="3695700" y="2114550"/>
            <a:ext cx="2076450" cy="1504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围绕高频过滤字段设计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避免超高基数直接分区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 hidden transform 降低使用成本</a:t>
            </a:r>
          </a:p>
        </p:txBody>
      </p:sp>
      <p:sp>
        <p:nvSpPr>
          <p:cNvPr id="445" name="Card"/>
          <p:cNvSpPr txBox="0"/>
          <p:nvPr/>
        </p:nvSpPr>
        <p:spPr>
          <a:xfrm>
            <a:off x="6324600" y="1581150"/>
            <a:ext cx="2457450" cy="21717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446" name="Accent"/>
          <p:cNvSpPr txBox="0"/>
          <p:nvPr/>
        </p:nvSpPr>
        <p:spPr>
          <a:xfrm>
            <a:off x="6324600" y="1581150"/>
            <a:ext cx="57150" cy="21717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47" name="Text"/>
          <p:cNvSpPr txBox="1"/>
          <p:nvPr/>
        </p:nvSpPr>
        <p:spPr>
          <a:xfrm>
            <a:off x="6515100" y="17526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排序 / 聚簇</a:t>
            </a:r>
          </a:p>
        </p:txBody>
      </p:sp>
      <p:sp>
        <p:nvSpPr>
          <p:cNvPr id="448" name="Text"/>
          <p:cNvSpPr txBox="1"/>
          <p:nvPr/>
        </p:nvSpPr>
        <p:spPr>
          <a:xfrm>
            <a:off x="6515100" y="2114550"/>
            <a:ext cx="2076450" cy="1504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让同类数据更集中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提升 min/max 统计裁剪效果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服务于 Top 查询和范围查询</a:t>
            </a:r>
          </a:p>
        </p:txBody>
      </p:sp>
      <p:sp>
        <p:nvSpPr>
          <p:cNvPr id="449" name="Card"/>
          <p:cNvSpPr txBox="0"/>
          <p:nvPr/>
        </p:nvSpPr>
        <p:spPr>
          <a:xfrm>
            <a:off x="9144000" y="1581150"/>
            <a:ext cx="2457450" cy="21717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450" name="Accent"/>
          <p:cNvSpPr txBox="0"/>
          <p:nvPr/>
        </p:nvSpPr>
        <p:spPr>
          <a:xfrm>
            <a:off x="9144000" y="1581150"/>
            <a:ext cx="57150" cy="217170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51" name="Text"/>
          <p:cNvSpPr txBox="1"/>
          <p:nvPr/>
        </p:nvSpPr>
        <p:spPr>
          <a:xfrm>
            <a:off x="9334500" y="17526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元数据维护</a:t>
            </a:r>
          </a:p>
        </p:txBody>
      </p:sp>
      <p:sp>
        <p:nvSpPr>
          <p:cNvPr id="452" name="Text"/>
          <p:cNvSpPr txBox="1"/>
          <p:nvPr/>
        </p:nvSpPr>
        <p:spPr>
          <a:xfrm>
            <a:off x="9334500" y="2114550"/>
            <a:ext cx="2076450" cy="1504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manifest 过多会拖慢规划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snapshot 过多增加管理成本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定期压缩和清理</a:t>
            </a:r>
          </a:p>
        </p:txBody>
      </p:sp>
      <p:sp>
        <p:nvSpPr>
          <p:cNvPr id="453" name="Text"/>
          <p:cNvSpPr txBox="1"/>
          <p:nvPr/>
        </p:nvSpPr>
        <p:spPr>
          <a:xfrm>
            <a:off x="990600" y="4572000"/>
            <a:ext cx="102108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一句话：Iceberg 让引擎更容易“少读文件”，但要靠合理写入和维护，让“可裁剪的信息”持续准确、紧凑。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数据治理：版本、审计、分支与保留策略</a:t>
            </a:r>
          </a:p>
        </p:txBody>
      </p:sp>
      <p:sp>
        <p:nvSpPr>
          <p:cNvPr id="455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的表级历史能力可以支撑治理，但需要制度化配置。</a:t>
            </a:r>
          </a:p>
        </p:txBody>
      </p:sp>
      <p:sp>
        <p:nvSpPr>
          <p:cNvPr id="456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457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58" name="Card"/>
          <p:cNvSpPr txBox="0"/>
          <p:nvPr/>
        </p:nvSpPr>
        <p:spPr>
          <a:xfrm>
            <a:off x="742950" y="1619250"/>
            <a:ext cx="3162300" cy="23431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459" name="Accent"/>
          <p:cNvSpPr txBox="0"/>
          <p:nvPr/>
        </p:nvSpPr>
        <p:spPr>
          <a:xfrm>
            <a:off x="742950" y="1619250"/>
            <a:ext cx="57150" cy="23431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60" name="Text"/>
          <p:cNvSpPr txBox="1"/>
          <p:nvPr/>
        </p:nvSpPr>
        <p:spPr>
          <a:xfrm>
            <a:off x="933450" y="179070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审计与追溯</a:t>
            </a:r>
          </a:p>
        </p:txBody>
      </p:sp>
      <p:sp>
        <p:nvSpPr>
          <p:cNvPr id="461" name="Text"/>
          <p:cNvSpPr txBox="1"/>
          <p:nvPr/>
        </p:nvSpPr>
        <p:spPr>
          <a:xfrm>
            <a:off x="933450" y="2152650"/>
            <a:ext cx="2781300" cy="167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snapshot_id 对应一次提交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metadata tables 可查询历史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报表可以记录使用的快照</a:t>
            </a:r>
          </a:p>
        </p:txBody>
      </p:sp>
      <p:sp>
        <p:nvSpPr>
          <p:cNvPr id="462" name="Card"/>
          <p:cNvSpPr txBox="0"/>
          <p:nvPr/>
        </p:nvSpPr>
        <p:spPr>
          <a:xfrm>
            <a:off x="4514850" y="1619250"/>
            <a:ext cx="3162300" cy="23431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463" name="Accent"/>
          <p:cNvSpPr txBox="0"/>
          <p:nvPr/>
        </p:nvSpPr>
        <p:spPr>
          <a:xfrm>
            <a:off x="4514850" y="1619250"/>
            <a:ext cx="57150" cy="234315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464" name="Text"/>
          <p:cNvSpPr txBox="1"/>
          <p:nvPr/>
        </p:nvSpPr>
        <p:spPr>
          <a:xfrm>
            <a:off x="4705350" y="179070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回滚与修复</a:t>
            </a:r>
          </a:p>
        </p:txBody>
      </p:sp>
      <p:sp>
        <p:nvSpPr>
          <p:cNvPr id="465" name="Text"/>
          <p:cNvSpPr txBox="1"/>
          <p:nvPr/>
        </p:nvSpPr>
        <p:spPr>
          <a:xfrm>
            <a:off x="4705350" y="2152650"/>
            <a:ext cx="2781300" cy="167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误写入后可 rollback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先确认下游是否已消费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回滚不等于删除错误文件</a:t>
            </a:r>
          </a:p>
        </p:txBody>
      </p:sp>
      <p:sp>
        <p:nvSpPr>
          <p:cNvPr id="466" name="Card"/>
          <p:cNvSpPr txBox="0"/>
          <p:nvPr/>
        </p:nvSpPr>
        <p:spPr>
          <a:xfrm>
            <a:off x="8286750" y="1619250"/>
            <a:ext cx="3162300" cy="23431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467" name="Accent"/>
          <p:cNvSpPr txBox="0"/>
          <p:nvPr/>
        </p:nvSpPr>
        <p:spPr>
          <a:xfrm>
            <a:off x="8286750" y="1619250"/>
            <a:ext cx="57150" cy="23431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68" name="Text"/>
          <p:cNvSpPr txBox="1"/>
          <p:nvPr/>
        </p:nvSpPr>
        <p:spPr>
          <a:xfrm>
            <a:off x="8477250" y="1790700"/>
            <a:ext cx="2800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分支与标签</a:t>
            </a:r>
          </a:p>
        </p:txBody>
      </p:sp>
      <p:sp>
        <p:nvSpPr>
          <p:cNvPr id="469" name="Text"/>
          <p:cNvSpPr txBox="1"/>
          <p:nvPr/>
        </p:nvSpPr>
        <p:spPr>
          <a:xfrm>
            <a:off x="8477250" y="2152650"/>
            <a:ext cx="2781300" cy="167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用于实验性写入和发布门禁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标签可固定重要版本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治理策略决定保留时长</a:t>
            </a:r>
          </a:p>
        </p:txBody>
      </p:sp>
      <p:sp>
        <p:nvSpPr>
          <p:cNvPr id="470" name="Rect"/>
          <p:cNvSpPr txBox="0"/>
          <p:nvPr/>
        </p:nvSpPr>
        <p:spPr>
          <a:xfrm>
            <a:off x="1143000" y="4705350"/>
            <a:ext cx="9906000" cy="74295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471" name="Text"/>
          <p:cNvSpPr txBox="1"/>
          <p:nvPr/>
        </p:nvSpPr>
        <p:spPr>
          <a:xfrm>
            <a:off x="1466850" y="4876800"/>
            <a:ext cx="923925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0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风险提醒：快照保留越久，空间占用越高；清理越激进，回滚和时间旅行窗口越短。这个取舍要由平台规范明确。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 Hive 表 / 普通 Parquet 的差异</a:t>
            </a:r>
          </a:p>
        </p:txBody>
      </p:sp>
      <p:sp>
        <p:nvSpPr>
          <p:cNvPr id="473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的价值不是替代 Parquet，而是在文件之上补齐表语义。</a:t>
            </a:r>
          </a:p>
        </p:txBody>
      </p:sp>
      <p:sp>
        <p:nvSpPr>
          <p:cNvPr id="474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475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76" name="Table Cell"/>
          <p:cNvSpPr txBox="0"/>
          <p:nvPr/>
        </p:nvSpPr>
        <p:spPr>
          <a:xfrm>
            <a:off x="704850" y="1562100"/>
            <a:ext cx="21907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477" name="Text"/>
          <p:cNvSpPr txBox="1"/>
          <p:nvPr/>
        </p:nvSpPr>
        <p:spPr>
          <a:xfrm>
            <a:off x="800100" y="1647825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478" name="Table Cell"/>
          <p:cNvSpPr txBox="0"/>
          <p:nvPr/>
        </p:nvSpPr>
        <p:spPr>
          <a:xfrm>
            <a:off x="2895600" y="1562100"/>
            <a:ext cx="2714625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479" name="Text"/>
          <p:cNvSpPr txBox="1"/>
          <p:nvPr/>
        </p:nvSpPr>
        <p:spPr>
          <a:xfrm>
            <a:off x="2990850" y="164782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普通 Parquet 目录</a:t>
            </a:r>
          </a:p>
        </p:txBody>
      </p:sp>
      <p:sp>
        <p:nvSpPr>
          <p:cNvPr id="480" name="Table Cell"/>
          <p:cNvSpPr txBox="0"/>
          <p:nvPr/>
        </p:nvSpPr>
        <p:spPr>
          <a:xfrm>
            <a:off x="5610225" y="1562100"/>
            <a:ext cx="2714625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481" name="Text"/>
          <p:cNvSpPr txBox="1"/>
          <p:nvPr/>
        </p:nvSpPr>
        <p:spPr>
          <a:xfrm>
            <a:off x="5705475" y="164782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Hive 外表</a:t>
            </a:r>
          </a:p>
        </p:txBody>
      </p:sp>
      <p:sp>
        <p:nvSpPr>
          <p:cNvPr id="482" name="Table Cell"/>
          <p:cNvSpPr txBox="0"/>
          <p:nvPr/>
        </p:nvSpPr>
        <p:spPr>
          <a:xfrm>
            <a:off x="8324850" y="1562100"/>
            <a:ext cx="304800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483" name="Text"/>
          <p:cNvSpPr txBox="1"/>
          <p:nvPr/>
        </p:nvSpPr>
        <p:spPr>
          <a:xfrm>
            <a:off x="8420100" y="1647825"/>
            <a:ext cx="2857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Iceberg 表</a:t>
            </a:r>
          </a:p>
        </p:txBody>
      </p:sp>
      <p:sp>
        <p:nvSpPr>
          <p:cNvPr id="484" name="Table Cell"/>
          <p:cNvSpPr txBox="0"/>
          <p:nvPr/>
        </p:nvSpPr>
        <p:spPr>
          <a:xfrm>
            <a:off x="704850" y="2114550"/>
            <a:ext cx="2190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85" name="Text"/>
          <p:cNvSpPr txBox="1"/>
          <p:nvPr/>
        </p:nvSpPr>
        <p:spPr>
          <a:xfrm>
            <a:off x="800100" y="2200275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表状态</a:t>
            </a:r>
          </a:p>
        </p:txBody>
      </p:sp>
      <p:sp>
        <p:nvSpPr>
          <p:cNvPr id="486" name="Table Cell"/>
          <p:cNvSpPr txBox="0"/>
          <p:nvPr/>
        </p:nvSpPr>
        <p:spPr>
          <a:xfrm>
            <a:off x="2895600" y="211455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87" name="Text"/>
          <p:cNvSpPr txBox="1"/>
          <p:nvPr/>
        </p:nvSpPr>
        <p:spPr>
          <a:xfrm>
            <a:off x="2990850" y="220027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靠目录约定</a:t>
            </a:r>
          </a:p>
        </p:txBody>
      </p:sp>
      <p:sp>
        <p:nvSpPr>
          <p:cNvPr id="488" name="Table Cell"/>
          <p:cNvSpPr txBox="0"/>
          <p:nvPr/>
        </p:nvSpPr>
        <p:spPr>
          <a:xfrm>
            <a:off x="5610225" y="211455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89" name="Text"/>
          <p:cNvSpPr txBox="1"/>
          <p:nvPr/>
        </p:nvSpPr>
        <p:spPr>
          <a:xfrm>
            <a:off x="5705475" y="220027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Metastore + 分区</a:t>
            </a:r>
          </a:p>
        </p:txBody>
      </p:sp>
      <p:sp>
        <p:nvSpPr>
          <p:cNvPr id="490" name="Table Cell"/>
          <p:cNvSpPr txBox="0"/>
          <p:nvPr/>
        </p:nvSpPr>
        <p:spPr>
          <a:xfrm>
            <a:off x="8324850" y="2114550"/>
            <a:ext cx="30480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91" name="Text"/>
          <p:cNvSpPr txBox="1"/>
          <p:nvPr/>
        </p:nvSpPr>
        <p:spPr>
          <a:xfrm>
            <a:off x="8420100" y="2200275"/>
            <a:ext cx="2857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快照化 metadata</a:t>
            </a:r>
          </a:p>
        </p:txBody>
      </p:sp>
      <p:sp>
        <p:nvSpPr>
          <p:cNvPr id="492" name="Table Cell"/>
          <p:cNvSpPr txBox="0"/>
          <p:nvPr/>
        </p:nvSpPr>
        <p:spPr>
          <a:xfrm>
            <a:off x="704850" y="2667000"/>
            <a:ext cx="2190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93" name="Text"/>
          <p:cNvSpPr txBox="1"/>
          <p:nvPr/>
        </p:nvSpPr>
        <p:spPr>
          <a:xfrm>
            <a:off x="800100" y="2752725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并发一致性</a:t>
            </a:r>
          </a:p>
        </p:txBody>
      </p:sp>
      <p:sp>
        <p:nvSpPr>
          <p:cNvPr id="494" name="Table Cell"/>
          <p:cNvSpPr txBox="0"/>
          <p:nvPr/>
        </p:nvSpPr>
        <p:spPr>
          <a:xfrm>
            <a:off x="2895600" y="266700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95" name="Text"/>
          <p:cNvSpPr txBox="1"/>
          <p:nvPr/>
        </p:nvSpPr>
        <p:spPr>
          <a:xfrm>
            <a:off x="2990850" y="275272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弱</a:t>
            </a:r>
          </a:p>
        </p:txBody>
      </p:sp>
      <p:sp>
        <p:nvSpPr>
          <p:cNvPr id="496" name="Table Cell"/>
          <p:cNvSpPr txBox="0"/>
          <p:nvPr/>
        </p:nvSpPr>
        <p:spPr>
          <a:xfrm>
            <a:off x="5610225" y="266700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97" name="Text"/>
          <p:cNvSpPr txBox="1"/>
          <p:nvPr/>
        </p:nvSpPr>
        <p:spPr>
          <a:xfrm>
            <a:off x="5705475" y="275272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有限</a:t>
            </a:r>
          </a:p>
        </p:txBody>
      </p:sp>
      <p:sp>
        <p:nvSpPr>
          <p:cNvPr id="498" name="Table Cell"/>
          <p:cNvSpPr txBox="0"/>
          <p:nvPr/>
        </p:nvSpPr>
        <p:spPr>
          <a:xfrm>
            <a:off x="8324850" y="2667000"/>
            <a:ext cx="30480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499" name="Text"/>
          <p:cNvSpPr txBox="1"/>
          <p:nvPr/>
        </p:nvSpPr>
        <p:spPr>
          <a:xfrm>
            <a:off x="8420100" y="2752725"/>
            <a:ext cx="2857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ACID 提交</a:t>
            </a:r>
          </a:p>
        </p:txBody>
      </p:sp>
      <p:sp>
        <p:nvSpPr>
          <p:cNvPr id="500" name="Table Cell"/>
          <p:cNvSpPr txBox="0"/>
          <p:nvPr/>
        </p:nvSpPr>
        <p:spPr>
          <a:xfrm>
            <a:off x="704850" y="3219450"/>
            <a:ext cx="2190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01" name="Text"/>
          <p:cNvSpPr txBox="1"/>
          <p:nvPr/>
        </p:nvSpPr>
        <p:spPr>
          <a:xfrm>
            <a:off x="800100" y="3305175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分区演进</a:t>
            </a:r>
          </a:p>
        </p:txBody>
      </p:sp>
      <p:sp>
        <p:nvSpPr>
          <p:cNvPr id="502" name="Table Cell"/>
          <p:cNvSpPr txBox="0"/>
          <p:nvPr/>
        </p:nvSpPr>
        <p:spPr>
          <a:xfrm>
            <a:off x="2895600" y="321945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03" name="Text"/>
          <p:cNvSpPr txBox="1"/>
          <p:nvPr/>
        </p:nvSpPr>
        <p:spPr>
          <a:xfrm>
            <a:off x="2990850" y="330517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手工迁移</a:t>
            </a:r>
          </a:p>
        </p:txBody>
      </p:sp>
      <p:sp>
        <p:nvSpPr>
          <p:cNvPr id="504" name="Table Cell"/>
          <p:cNvSpPr txBox="0"/>
          <p:nvPr/>
        </p:nvSpPr>
        <p:spPr>
          <a:xfrm>
            <a:off x="5610225" y="321945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05" name="Text"/>
          <p:cNvSpPr txBox="1"/>
          <p:nvPr/>
        </p:nvSpPr>
        <p:spPr>
          <a:xfrm>
            <a:off x="5705475" y="330517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成本较高</a:t>
            </a:r>
          </a:p>
        </p:txBody>
      </p:sp>
      <p:sp>
        <p:nvSpPr>
          <p:cNvPr id="506" name="Table Cell"/>
          <p:cNvSpPr txBox="0"/>
          <p:nvPr/>
        </p:nvSpPr>
        <p:spPr>
          <a:xfrm>
            <a:off x="8324850" y="3219450"/>
            <a:ext cx="30480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07" name="Text"/>
          <p:cNvSpPr txBox="1"/>
          <p:nvPr/>
        </p:nvSpPr>
        <p:spPr>
          <a:xfrm>
            <a:off x="8420100" y="3305175"/>
            <a:ext cx="2857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元数据级演进</a:t>
            </a:r>
          </a:p>
        </p:txBody>
      </p:sp>
      <p:sp>
        <p:nvSpPr>
          <p:cNvPr id="508" name="Table Cell"/>
          <p:cNvSpPr txBox="0"/>
          <p:nvPr/>
        </p:nvSpPr>
        <p:spPr>
          <a:xfrm>
            <a:off x="704850" y="3771900"/>
            <a:ext cx="2190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09" name="Text"/>
          <p:cNvSpPr txBox="1"/>
          <p:nvPr/>
        </p:nvSpPr>
        <p:spPr>
          <a:xfrm>
            <a:off x="800100" y="3857625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时间旅行</a:t>
            </a:r>
          </a:p>
        </p:txBody>
      </p:sp>
      <p:sp>
        <p:nvSpPr>
          <p:cNvPr id="510" name="Table Cell"/>
          <p:cNvSpPr txBox="0"/>
          <p:nvPr/>
        </p:nvSpPr>
        <p:spPr>
          <a:xfrm>
            <a:off x="2895600" y="377190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11" name="Text"/>
          <p:cNvSpPr txBox="1"/>
          <p:nvPr/>
        </p:nvSpPr>
        <p:spPr>
          <a:xfrm>
            <a:off x="2990850" y="385762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依赖备份</a:t>
            </a:r>
          </a:p>
        </p:txBody>
      </p:sp>
      <p:sp>
        <p:nvSpPr>
          <p:cNvPr id="512" name="Table Cell"/>
          <p:cNvSpPr txBox="0"/>
          <p:nvPr/>
        </p:nvSpPr>
        <p:spPr>
          <a:xfrm>
            <a:off x="5610225" y="377190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13" name="Text"/>
          <p:cNvSpPr txBox="1"/>
          <p:nvPr/>
        </p:nvSpPr>
        <p:spPr>
          <a:xfrm>
            <a:off x="5705475" y="385762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通常不支持</a:t>
            </a:r>
          </a:p>
        </p:txBody>
      </p:sp>
      <p:sp>
        <p:nvSpPr>
          <p:cNvPr id="514" name="Table Cell"/>
          <p:cNvSpPr txBox="0"/>
          <p:nvPr/>
        </p:nvSpPr>
        <p:spPr>
          <a:xfrm>
            <a:off x="8324850" y="3771900"/>
            <a:ext cx="30480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15" name="Text"/>
          <p:cNvSpPr txBox="1"/>
          <p:nvPr/>
        </p:nvSpPr>
        <p:spPr>
          <a:xfrm>
            <a:off x="8420100" y="3857625"/>
            <a:ext cx="2857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原生 snapshot</a:t>
            </a:r>
          </a:p>
        </p:txBody>
      </p:sp>
      <p:sp>
        <p:nvSpPr>
          <p:cNvPr id="516" name="Table Cell"/>
          <p:cNvSpPr txBox="0"/>
          <p:nvPr/>
        </p:nvSpPr>
        <p:spPr>
          <a:xfrm>
            <a:off x="704850" y="4324350"/>
            <a:ext cx="21907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17" name="Text"/>
          <p:cNvSpPr txBox="1"/>
          <p:nvPr/>
        </p:nvSpPr>
        <p:spPr>
          <a:xfrm>
            <a:off x="800100" y="4410075"/>
            <a:ext cx="20002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跨引擎</a:t>
            </a:r>
          </a:p>
        </p:txBody>
      </p:sp>
      <p:sp>
        <p:nvSpPr>
          <p:cNvPr id="518" name="Table Cell"/>
          <p:cNvSpPr txBox="0"/>
          <p:nvPr/>
        </p:nvSpPr>
        <p:spPr>
          <a:xfrm>
            <a:off x="2895600" y="432435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19" name="Text"/>
          <p:cNvSpPr txBox="1"/>
          <p:nvPr/>
        </p:nvSpPr>
        <p:spPr>
          <a:xfrm>
            <a:off x="2990850" y="441007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各扫各的</a:t>
            </a:r>
          </a:p>
        </p:txBody>
      </p:sp>
      <p:sp>
        <p:nvSpPr>
          <p:cNvPr id="520" name="Table Cell"/>
          <p:cNvSpPr txBox="0"/>
          <p:nvPr/>
        </p:nvSpPr>
        <p:spPr>
          <a:xfrm>
            <a:off x="5610225" y="4324350"/>
            <a:ext cx="2714625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21" name="Text"/>
          <p:cNvSpPr txBox="1"/>
          <p:nvPr/>
        </p:nvSpPr>
        <p:spPr>
          <a:xfrm>
            <a:off x="5705475" y="4410075"/>
            <a:ext cx="2524125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受 Hive 语义限制</a:t>
            </a:r>
          </a:p>
        </p:txBody>
      </p:sp>
      <p:sp>
        <p:nvSpPr>
          <p:cNvPr id="522" name="Table Cell"/>
          <p:cNvSpPr txBox="0"/>
          <p:nvPr/>
        </p:nvSpPr>
        <p:spPr>
          <a:xfrm>
            <a:off x="8324850" y="4324350"/>
            <a:ext cx="304800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23" name="Text"/>
          <p:cNvSpPr txBox="1"/>
          <p:nvPr/>
        </p:nvSpPr>
        <p:spPr>
          <a:xfrm>
            <a:off x="8420100" y="4410075"/>
            <a:ext cx="28575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开放表格式共享</a:t>
            </a:r>
          </a:p>
        </p:txBody>
      </p:sp>
      <p:sp>
        <p:nvSpPr>
          <p:cNvPr id="524" name="Text"/>
          <p:cNvSpPr txBox="1"/>
          <p:nvPr/>
        </p:nvSpPr>
        <p:spPr>
          <a:xfrm>
            <a:off x="1104900" y="5695950"/>
            <a:ext cx="99822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选型判断：如果只是临时文件交换，Parquet 足够；如果数据要长期被多引擎读写，表格式就是基础设施。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落地路线：从 PoC 到生产</a:t>
            </a:r>
          </a:p>
        </p:txBody>
      </p:sp>
      <p:sp>
        <p:nvSpPr>
          <p:cNvPr id="526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建议先用少量高价值表验证读写链路，再逐步平台化。</a:t>
            </a:r>
          </a:p>
        </p:txBody>
      </p:sp>
      <p:sp>
        <p:nvSpPr>
          <p:cNvPr id="527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528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29" name="Rect"/>
          <p:cNvSpPr txBox="0"/>
          <p:nvPr/>
        </p:nvSpPr>
        <p:spPr>
          <a:xfrm>
            <a:off x="762000" y="1676400"/>
            <a:ext cx="1619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</p:sp>
      <p:sp>
        <p:nvSpPr>
          <p:cNvPr id="530" name="Text"/>
          <p:cNvSpPr txBox="1"/>
          <p:nvPr/>
        </p:nvSpPr>
        <p:spPr>
          <a:xfrm>
            <a:off x="1257300" y="1943100"/>
            <a:ext cx="6286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36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31" name="Text"/>
          <p:cNvSpPr txBox="1"/>
          <p:nvPr/>
        </p:nvSpPr>
        <p:spPr>
          <a:xfrm>
            <a:off x="933450" y="2705100"/>
            <a:ext cx="1276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选表</a:t>
            </a:r>
          </a:p>
        </p:txBody>
      </p:sp>
      <p:sp>
        <p:nvSpPr>
          <p:cNvPr id="532" name="Text"/>
          <p:cNvSpPr txBox="1"/>
          <p:nvPr/>
        </p:nvSpPr>
        <p:spPr>
          <a:xfrm>
            <a:off x="933450" y="3219450"/>
            <a:ext cx="12763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选择查询频繁、变更明确、痛点明显的表</a:t>
            </a:r>
          </a:p>
        </p:txBody>
      </p:sp>
      <p:sp>
        <p:nvSpPr>
          <p:cNvPr id="533" name="Rect"/>
          <p:cNvSpPr txBox="0"/>
          <p:nvPr/>
        </p:nvSpPr>
        <p:spPr>
          <a:xfrm>
            <a:off x="2895600" y="1676400"/>
            <a:ext cx="1619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059669"/>
            </a:solidFill>
          </a:ln>
        </p:spPr>
      </p:sp>
      <p:sp>
        <p:nvSpPr>
          <p:cNvPr id="534" name="Text"/>
          <p:cNvSpPr txBox="1"/>
          <p:nvPr/>
        </p:nvSpPr>
        <p:spPr>
          <a:xfrm>
            <a:off x="3390900" y="1943100"/>
            <a:ext cx="6286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36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35" name="Text"/>
          <p:cNvSpPr txBox="1"/>
          <p:nvPr/>
        </p:nvSpPr>
        <p:spPr>
          <a:xfrm>
            <a:off x="3067050" y="2705100"/>
            <a:ext cx="1276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建规范</a:t>
            </a:r>
          </a:p>
        </p:txBody>
      </p:sp>
      <p:sp>
        <p:nvSpPr>
          <p:cNvPr id="536" name="Text"/>
          <p:cNvSpPr txBox="1"/>
          <p:nvPr/>
        </p:nvSpPr>
        <p:spPr>
          <a:xfrm>
            <a:off x="3067050" y="3219450"/>
            <a:ext cx="12763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Catalog、命名、分区、文件大小、保留策略</a:t>
            </a:r>
          </a:p>
        </p:txBody>
      </p:sp>
      <p:sp>
        <p:nvSpPr>
          <p:cNvPr id="537" name="Rect"/>
          <p:cNvSpPr txBox="0"/>
          <p:nvPr/>
        </p:nvSpPr>
        <p:spPr>
          <a:xfrm>
            <a:off x="5029200" y="1676400"/>
            <a:ext cx="1619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</p:sp>
      <p:sp>
        <p:nvSpPr>
          <p:cNvPr id="538" name="Text"/>
          <p:cNvSpPr txBox="1"/>
          <p:nvPr/>
        </p:nvSpPr>
        <p:spPr>
          <a:xfrm>
            <a:off x="5524500" y="1943100"/>
            <a:ext cx="6286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3600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39" name="Text"/>
          <p:cNvSpPr txBox="1"/>
          <p:nvPr/>
        </p:nvSpPr>
        <p:spPr>
          <a:xfrm>
            <a:off x="5200650" y="2705100"/>
            <a:ext cx="1276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接引擎</a:t>
            </a:r>
          </a:p>
        </p:txBody>
      </p:sp>
      <p:sp>
        <p:nvSpPr>
          <p:cNvPr id="540" name="Text"/>
          <p:cNvSpPr txBox="1"/>
          <p:nvPr/>
        </p:nvSpPr>
        <p:spPr>
          <a:xfrm>
            <a:off x="5200650" y="3219450"/>
            <a:ext cx="12763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Spark/Flink/Trino/StarRocks 按场景验证</a:t>
            </a:r>
          </a:p>
        </p:txBody>
      </p:sp>
      <p:sp>
        <p:nvSpPr>
          <p:cNvPr id="541" name="Rect"/>
          <p:cNvSpPr txBox="0"/>
          <p:nvPr/>
        </p:nvSpPr>
        <p:spPr>
          <a:xfrm>
            <a:off x="7162800" y="1676400"/>
            <a:ext cx="1619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</p:sp>
      <p:sp>
        <p:nvSpPr>
          <p:cNvPr id="542" name="Text"/>
          <p:cNvSpPr txBox="1"/>
          <p:nvPr/>
        </p:nvSpPr>
        <p:spPr>
          <a:xfrm>
            <a:off x="7658100" y="1943100"/>
            <a:ext cx="6286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36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43" name="Text"/>
          <p:cNvSpPr txBox="1"/>
          <p:nvPr/>
        </p:nvSpPr>
        <p:spPr>
          <a:xfrm>
            <a:off x="7334250" y="2705100"/>
            <a:ext cx="1276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跑维护</a:t>
            </a:r>
          </a:p>
        </p:txBody>
      </p:sp>
      <p:sp>
        <p:nvSpPr>
          <p:cNvPr id="544" name="Text"/>
          <p:cNvSpPr txBox="1"/>
          <p:nvPr/>
        </p:nvSpPr>
        <p:spPr>
          <a:xfrm>
            <a:off x="7334250" y="3219450"/>
            <a:ext cx="12763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小文件、快照、manifest、孤儿文件纳入调度</a:t>
            </a:r>
          </a:p>
        </p:txBody>
      </p:sp>
      <p:sp>
        <p:nvSpPr>
          <p:cNvPr id="545" name="Rect"/>
          <p:cNvSpPr txBox="0"/>
          <p:nvPr/>
        </p:nvSpPr>
        <p:spPr>
          <a:xfrm>
            <a:off x="9296400" y="1676400"/>
            <a:ext cx="1619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</p:sp>
      <p:sp>
        <p:nvSpPr>
          <p:cNvPr id="546" name="Text"/>
          <p:cNvSpPr txBox="1"/>
          <p:nvPr/>
        </p:nvSpPr>
        <p:spPr>
          <a:xfrm>
            <a:off x="9791700" y="1943100"/>
            <a:ext cx="62865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36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47" name="Text"/>
          <p:cNvSpPr txBox="1"/>
          <p:nvPr/>
        </p:nvSpPr>
        <p:spPr>
          <a:xfrm>
            <a:off x="9467850" y="2705100"/>
            <a:ext cx="1276350" cy="2857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做治理</a:t>
            </a:r>
          </a:p>
        </p:txBody>
      </p:sp>
      <p:sp>
        <p:nvSpPr>
          <p:cNvPr id="548" name="Text"/>
          <p:cNvSpPr txBox="1"/>
          <p:nvPr/>
        </p:nvSpPr>
        <p:spPr>
          <a:xfrm>
            <a:off x="9467850" y="3219450"/>
            <a:ext cx="127635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权限、审计、版本、回滚流程和告警</a:t>
            </a:r>
          </a:p>
        </p:txBody>
      </p:sp>
      <p:sp>
        <p:nvSpPr>
          <p:cNvPr id="549" name="Text"/>
          <p:cNvSpPr txBox="1"/>
          <p:nvPr/>
        </p:nvSpPr>
        <p:spPr>
          <a:xfrm>
            <a:off x="1200150" y="5238750"/>
            <a:ext cx="97917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验收指标：查询扫描文件数下降、写入失败可恢复、历史版本可追溯、维护后空间增长可控。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PoC 先选两张能暴露真实问题的业务表</a:t>
            </a:r>
          </a:p>
        </p:txBody>
      </p:sp>
      <p:sp>
        <p:nvSpPr>
          <p:cNvPr id="551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不要只用 toy table；PoC 表要覆盖批量导入、增量写入、查询裁剪和维护成本。</a:t>
            </a:r>
          </a:p>
        </p:txBody>
      </p:sp>
      <p:sp>
        <p:nvSpPr>
          <p:cNvPr id="552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553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54" name="Table Cell"/>
          <p:cNvSpPr txBox="0"/>
          <p:nvPr/>
        </p:nvSpPr>
        <p:spPr>
          <a:xfrm>
            <a:off x="704850" y="1562100"/>
            <a:ext cx="2476500" cy="6286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555" name="Text"/>
          <p:cNvSpPr txBox="1"/>
          <p:nvPr/>
        </p:nvSpPr>
        <p:spPr>
          <a:xfrm>
            <a:off x="800100" y="164782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候选表</a:t>
            </a:r>
          </a:p>
        </p:txBody>
      </p:sp>
      <p:sp>
        <p:nvSpPr>
          <p:cNvPr id="556" name="Table Cell"/>
          <p:cNvSpPr txBox="0"/>
          <p:nvPr/>
        </p:nvSpPr>
        <p:spPr>
          <a:xfrm>
            <a:off x="3181350" y="1562100"/>
            <a:ext cx="3048000" cy="6286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557" name="Text"/>
          <p:cNvSpPr txBox="1"/>
          <p:nvPr/>
        </p:nvSpPr>
        <p:spPr>
          <a:xfrm>
            <a:off x="3276600" y="164782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为什么适合 PoC</a:t>
            </a:r>
          </a:p>
        </p:txBody>
      </p:sp>
      <p:sp>
        <p:nvSpPr>
          <p:cNvPr id="558" name="Table Cell"/>
          <p:cNvSpPr txBox="0"/>
          <p:nvPr/>
        </p:nvSpPr>
        <p:spPr>
          <a:xfrm>
            <a:off x="6229350" y="1562100"/>
            <a:ext cx="2667000" cy="6286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559" name="Text"/>
          <p:cNvSpPr txBox="1"/>
          <p:nvPr/>
        </p:nvSpPr>
        <p:spPr>
          <a:xfrm>
            <a:off x="6324600" y="1647825"/>
            <a:ext cx="2476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验证重点</a:t>
            </a:r>
          </a:p>
        </p:txBody>
      </p:sp>
      <p:sp>
        <p:nvSpPr>
          <p:cNvPr id="560" name="Table Cell"/>
          <p:cNvSpPr txBox="0"/>
          <p:nvPr/>
        </p:nvSpPr>
        <p:spPr>
          <a:xfrm>
            <a:off x="8896350" y="1562100"/>
            <a:ext cx="2476500" cy="6286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561" name="Text"/>
          <p:cNvSpPr txBox="1"/>
          <p:nvPr/>
        </p:nvSpPr>
        <p:spPr>
          <a:xfrm>
            <a:off x="8991600" y="164782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成功标准</a:t>
            </a:r>
          </a:p>
        </p:txBody>
      </p:sp>
      <p:sp>
        <p:nvSpPr>
          <p:cNvPr id="562" name="Table Cell"/>
          <p:cNvSpPr txBox="0"/>
          <p:nvPr/>
        </p:nvSpPr>
        <p:spPr>
          <a:xfrm>
            <a:off x="704850" y="2190750"/>
            <a:ext cx="24765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63" name="Text"/>
          <p:cNvSpPr txBox="1"/>
          <p:nvPr/>
        </p:nvSpPr>
        <p:spPr>
          <a:xfrm>
            <a:off x="800100" y="227647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telecom.cell_kpi_1min</a:t>
            </a:r>
          </a:p>
        </p:txBody>
      </p:sp>
      <p:sp>
        <p:nvSpPr>
          <p:cNvPr id="564" name="Table Cell"/>
          <p:cNvSpPr txBox="0"/>
          <p:nvPr/>
        </p:nvSpPr>
        <p:spPr>
          <a:xfrm>
            <a:off x="3181350" y="2190750"/>
            <a:ext cx="30480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65" name="Text"/>
          <p:cNvSpPr txBox="1"/>
          <p:nvPr/>
        </p:nvSpPr>
        <p:spPr>
          <a:xfrm>
            <a:off x="3276600" y="227647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分钟级指标持续写入，时间范围查询频繁</a:t>
            </a:r>
          </a:p>
        </p:txBody>
      </p:sp>
      <p:sp>
        <p:nvSpPr>
          <p:cNvPr id="566" name="Table Cell"/>
          <p:cNvSpPr txBox="0"/>
          <p:nvPr/>
        </p:nvSpPr>
        <p:spPr>
          <a:xfrm>
            <a:off x="6229350" y="2190750"/>
            <a:ext cx="26670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67" name="Text"/>
          <p:cNvSpPr txBox="1"/>
          <p:nvPr/>
        </p:nvSpPr>
        <p:spPr>
          <a:xfrm>
            <a:off x="6324600" y="2276475"/>
            <a:ext cx="2476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Flink 流写入、小文件、分区裁剪</a:t>
            </a:r>
          </a:p>
        </p:txBody>
      </p:sp>
      <p:sp>
        <p:nvSpPr>
          <p:cNvPr id="568" name="Table Cell"/>
          <p:cNvSpPr txBox="0"/>
          <p:nvPr/>
        </p:nvSpPr>
        <p:spPr>
          <a:xfrm>
            <a:off x="8896350" y="2190750"/>
            <a:ext cx="24765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69" name="Text"/>
          <p:cNvSpPr txBox="1"/>
          <p:nvPr/>
        </p:nvSpPr>
        <p:spPr>
          <a:xfrm>
            <a:off x="8991600" y="227647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近实时可查，文件数受控</a:t>
            </a:r>
          </a:p>
        </p:txBody>
      </p:sp>
      <p:sp>
        <p:nvSpPr>
          <p:cNvPr id="570" name="Table Cell"/>
          <p:cNvSpPr txBox="0"/>
          <p:nvPr/>
        </p:nvSpPr>
        <p:spPr>
          <a:xfrm>
            <a:off x="704850" y="2819400"/>
            <a:ext cx="24765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71" name="Text"/>
          <p:cNvSpPr txBox="1"/>
          <p:nvPr/>
        </p:nvSpPr>
        <p:spPr>
          <a:xfrm>
            <a:off x="800100" y="290512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telecom.cell_config_dim</a:t>
            </a:r>
          </a:p>
        </p:txBody>
      </p:sp>
      <p:sp>
        <p:nvSpPr>
          <p:cNvPr id="572" name="Table Cell"/>
          <p:cNvSpPr txBox="0"/>
          <p:nvPr/>
        </p:nvSpPr>
        <p:spPr>
          <a:xfrm>
            <a:off x="3181350" y="2819400"/>
            <a:ext cx="30480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73" name="Text"/>
          <p:cNvSpPr txBox="1"/>
          <p:nvPr/>
        </p:nvSpPr>
        <p:spPr>
          <a:xfrm>
            <a:off x="3276600" y="290512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维度属性会更新，适合验证主键合并</a:t>
            </a:r>
          </a:p>
        </p:txBody>
      </p:sp>
      <p:sp>
        <p:nvSpPr>
          <p:cNvPr id="574" name="Table Cell"/>
          <p:cNvSpPr txBox="0"/>
          <p:nvPr/>
        </p:nvSpPr>
        <p:spPr>
          <a:xfrm>
            <a:off x="6229350" y="2819400"/>
            <a:ext cx="26670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75" name="Text"/>
          <p:cNvSpPr txBox="1"/>
          <p:nvPr/>
        </p:nvSpPr>
        <p:spPr>
          <a:xfrm>
            <a:off x="6324600" y="2905125"/>
            <a:ext cx="2476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UPSERT、历史回看、跨引擎一致</a:t>
            </a:r>
          </a:p>
        </p:txBody>
      </p:sp>
      <p:sp>
        <p:nvSpPr>
          <p:cNvPr id="576" name="Table Cell"/>
          <p:cNvSpPr txBox="0"/>
          <p:nvPr/>
        </p:nvSpPr>
        <p:spPr>
          <a:xfrm>
            <a:off x="8896350" y="2819400"/>
            <a:ext cx="24765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77" name="Text"/>
          <p:cNvSpPr txBox="1"/>
          <p:nvPr/>
        </p:nvSpPr>
        <p:spPr>
          <a:xfrm>
            <a:off x="8991600" y="290512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修正后可追溯，可回滚</a:t>
            </a:r>
          </a:p>
        </p:txBody>
      </p:sp>
      <p:sp>
        <p:nvSpPr>
          <p:cNvPr id="578" name="Table Cell"/>
          <p:cNvSpPr txBox="0"/>
          <p:nvPr/>
        </p:nvSpPr>
        <p:spPr>
          <a:xfrm>
            <a:off x="704850" y="3448050"/>
            <a:ext cx="24765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79" name="Text"/>
          <p:cNvSpPr txBox="1"/>
          <p:nvPr/>
        </p:nvSpPr>
        <p:spPr>
          <a:xfrm>
            <a:off x="800100" y="353377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可替换原则</a:t>
            </a:r>
          </a:p>
        </p:txBody>
      </p:sp>
      <p:sp>
        <p:nvSpPr>
          <p:cNvPr id="580" name="Table Cell"/>
          <p:cNvSpPr txBox="0"/>
          <p:nvPr/>
        </p:nvSpPr>
        <p:spPr>
          <a:xfrm>
            <a:off x="3181350" y="3448050"/>
            <a:ext cx="30480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81" name="Text"/>
          <p:cNvSpPr txBox="1"/>
          <p:nvPr/>
        </p:nvSpPr>
        <p:spPr>
          <a:xfrm>
            <a:off x="3276600" y="3533775"/>
            <a:ext cx="2857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选本团队真实高频表，不追求一次覆盖所有场景</a:t>
            </a:r>
          </a:p>
        </p:txBody>
      </p:sp>
      <p:sp>
        <p:nvSpPr>
          <p:cNvPr id="582" name="Table Cell"/>
          <p:cNvSpPr txBox="0"/>
          <p:nvPr/>
        </p:nvSpPr>
        <p:spPr>
          <a:xfrm>
            <a:off x="6229350" y="3448050"/>
            <a:ext cx="26670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83" name="Text"/>
          <p:cNvSpPr txBox="1"/>
          <p:nvPr/>
        </p:nvSpPr>
        <p:spPr>
          <a:xfrm>
            <a:off x="6324600" y="3533775"/>
            <a:ext cx="24765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先跑通完整闭环</a:t>
            </a:r>
          </a:p>
        </p:txBody>
      </p:sp>
      <p:sp>
        <p:nvSpPr>
          <p:cNvPr id="584" name="Table Cell"/>
          <p:cNvSpPr txBox="0"/>
          <p:nvPr/>
        </p:nvSpPr>
        <p:spPr>
          <a:xfrm>
            <a:off x="8896350" y="3448050"/>
            <a:ext cx="2476500" cy="6286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585" name="Text"/>
          <p:cNvSpPr txBox="1"/>
          <p:nvPr/>
        </p:nvSpPr>
        <p:spPr>
          <a:xfrm>
            <a:off x="8991600" y="3533775"/>
            <a:ext cx="22860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形成建表和运维模板</a:t>
            </a:r>
          </a:p>
        </p:txBody>
      </p:sp>
      <p:sp>
        <p:nvSpPr>
          <p:cNvPr id="586" name="Text"/>
          <p:cNvSpPr txBox="1"/>
          <p:nvPr/>
        </p:nvSpPr>
        <p:spPr>
          <a:xfrm>
            <a:off x="1047750" y="4953000"/>
            <a:ext cx="10096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PoC 不只看“能不能读写”，还要看失败恢复、历史版本、空间增长、查询扫描量和跨引擎结果是否一致。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PoC 第一段：建表和批量导入要形成可复用模板</a:t>
            </a:r>
          </a:p>
        </p:txBody>
      </p:sp>
      <p:sp>
        <p:nvSpPr>
          <p:cNvPr id="588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先用 Hive Catalog 固定表入口，再用 Spark 或 Flink 执行首批历史数据入湖。</a:t>
            </a:r>
          </a:p>
        </p:txBody>
      </p:sp>
      <p:sp>
        <p:nvSpPr>
          <p:cNvPr id="589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590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91" name="Code Block"/>
          <p:cNvSpPr txBox="0"/>
          <p:nvPr/>
        </p:nvSpPr>
        <p:spPr>
          <a:xfrm>
            <a:off x="647700" y="1543050"/>
            <a:ext cx="5219700" cy="20002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92" name="Text"/>
          <p:cNvSpPr txBox="1"/>
          <p:nvPr/>
        </p:nvSpPr>
        <p:spPr>
          <a:xfrm>
            <a:off x="819150" y="1676400"/>
            <a:ext cx="4876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建表模板：复杂分区建议由 Spark 创建</a:t>
            </a:r>
          </a:p>
        </p:txBody>
      </p:sp>
      <p:sp>
        <p:nvSpPr>
          <p:cNvPr id="593" name="Text"/>
          <p:cNvSpPr txBox="1"/>
          <p:nvPr/>
        </p:nvSpPr>
        <p:spPr>
          <a:xfrm>
            <a:off x="819150" y="1962150"/>
            <a:ext cx="4876800" cy="1504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-- Spark 建表：保留隐藏分区能力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CREATE TABLE prod.telecom.cell_kpi_1min (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ts TIMESTAMP, cell_id STRING, province STRING, city STRING,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availability DOUBLE, traffic_mb DOUBLE, prb_util DOUBLE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USING iceberg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PARTITIONED BY (days(ts), bucket(32, cell_id))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TBLPROPERTIES ('format-version'='2');</a:t>
            </a:r>
          </a:p>
        </p:txBody>
      </p:sp>
      <p:sp>
        <p:nvSpPr>
          <p:cNvPr id="594" name="Code Block"/>
          <p:cNvSpPr txBox="0"/>
          <p:nvPr/>
        </p:nvSpPr>
        <p:spPr>
          <a:xfrm>
            <a:off x="647700" y="3867150"/>
            <a:ext cx="5219700" cy="142875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595" name="Text"/>
          <p:cNvSpPr txBox="1"/>
          <p:nvPr/>
        </p:nvSpPr>
        <p:spPr>
          <a:xfrm>
            <a:off x="819150" y="4000500"/>
            <a:ext cx="48768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批量导入：记录导入窗口和 snapshot_id</a:t>
            </a:r>
          </a:p>
        </p:txBody>
      </p:sp>
      <p:sp>
        <p:nvSpPr>
          <p:cNvPr id="596" name="Text"/>
          <p:cNvSpPr txBox="1"/>
          <p:nvPr/>
        </p:nvSpPr>
        <p:spPr>
          <a:xfrm>
            <a:off x="819150" y="4286250"/>
            <a:ext cx="4876800" cy="9334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-- 首批导入历史 Parquet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INSERT INTO prod.telecom.cell_kpi_1min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ts, cell_id, province, city,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     availability, traffic_mb, prb_util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staging.cell_kpi_1min_parquet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WHERE ts &lt; TIMESTAMP '2026-07-01';</a:t>
            </a:r>
          </a:p>
        </p:txBody>
      </p:sp>
      <p:sp>
        <p:nvSpPr>
          <p:cNvPr id="597" name="Card"/>
          <p:cNvSpPr txBox="0"/>
          <p:nvPr/>
        </p:nvSpPr>
        <p:spPr>
          <a:xfrm>
            <a:off x="6572250" y="1657350"/>
            <a:ext cx="4000500" cy="10668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598" name="Accent"/>
          <p:cNvSpPr txBox="0"/>
          <p:nvPr/>
        </p:nvSpPr>
        <p:spPr>
          <a:xfrm>
            <a:off x="6572250" y="1657350"/>
            <a:ext cx="57150" cy="10668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99" name="Text"/>
          <p:cNvSpPr txBox="1"/>
          <p:nvPr/>
        </p:nvSpPr>
        <p:spPr>
          <a:xfrm>
            <a:off x="6762750" y="182880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导入后立刻检查</a:t>
            </a:r>
          </a:p>
        </p:txBody>
      </p:sp>
      <p:sp>
        <p:nvSpPr>
          <p:cNvPr id="600" name="Text"/>
          <p:cNvSpPr txBox="1"/>
          <p:nvPr/>
        </p:nvSpPr>
        <p:spPr>
          <a:xfrm>
            <a:off x="6762750" y="2190750"/>
            <a:ext cx="3619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表记录数与源数据对齐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查询 snapshots 记录导入版本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查询 files/partitions 看文件大小和分布</a:t>
            </a:r>
          </a:p>
        </p:txBody>
      </p:sp>
      <p:sp>
        <p:nvSpPr>
          <p:cNvPr id="601" name="Card"/>
          <p:cNvSpPr txBox="0"/>
          <p:nvPr/>
        </p:nvSpPr>
        <p:spPr>
          <a:xfrm>
            <a:off x="6572250" y="3143250"/>
            <a:ext cx="4000500" cy="106680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602" name="Accent"/>
          <p:cNvSpPr txBox="0"/>
          <p:nvPr/>
        </p:nvSpPr>
        <p:spPr>
          <a:xfrm>
            <a:off x="6572250" y="3143250"/>
            <a:ext cx="57150" cy="106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03" name="Text"/>
          <p:cNvSpPr txBox="1"/>
          <p:nvPr/>
        </p:nvSpPr>
        <p:spPr>
          <a:xfrm>
            <a:off x="6762750" y="331470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必须沉淀</a:t>
            </a:r>
          </a:p>
        </p:txBody>
      </p:sp>
      <p:sp>
        <p:nvSpPr>
          <p:cNvPr id="604" name="Text"/>
          <p:cNvSpPr txBox="1"/>
          <p:nvPr/>
        </p:nvSpPr>
        <p:spPr>
          <a:xfrm>
            <a:off x="6762750" y="3676650"/>
            <a:ext cx="36195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DDL 模板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Catalog 配置模板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导入脚本和对账 SQL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回滚和重跑流程</a:t>
            </a:r>
          </a:p>
        </p:txBody>
      </p:sp>
      <p:sp>
        <p:nvSpPr>
          <p:cNvPr id="605" name="Card"/>
          <p:cNvSpPr txBox="0"/>
          <p:nvPr/>
        </p:nvSpPr>
        <p:spPr>
          <a:xfrm>
            <a:off x="6572250" y="4629150"/>
            <a:ext cx="4000500" cy="8572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606" name="Accent"/>
          <p:cNvSpPr txBox="0"/>
          <p:nvPr/>
        </p:nvSpPr>
        <p:spPr>
          <a:xfrm>
            <a:off x="6572250" y="4629150"/>
            <a:ext cx="57150" cy="8572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07" name="Text"/>
          <p:cNvSpPr txBox="1"/>
          <p:nvPr/>
        </p:nvSpPr>
        <p:spPr>
          <a:xfrm>
            <a:off x="6762750" y="4800600"/>
            <a:ext cx="3638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不要省略</a:t>
            </a:r>
          </a:p>
        </p:txBody>
      </p:sp>
      <p:sp>
        <p:nvSpPr>
          <p:cNvPr id="608" name="Text"/>
          <p:cNvSpPr txBox="1"/>
          <p:nvPr/>
        </p:nvSpPr>
        <p:spPr>
          <a:xfrm>
            <a:off x="6762750" y="5162550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把首批导入 snapshot 写入验收记录；后续 Time Travel 和回滚都要用它。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PoC 第二段：增量写入、历史回看和维护要一起验证</a:t>
            </a:r>
          </a:p>
        </p:txBody>
      </p:sp>
      <p:sp>
        <p:nvSpPr>
          <p:cNvPr id="610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Iceberg 的生产价值来自完整闭环，而不是单次写入成功。</a:t>
            </a:r>
          </a:p>
        </p:txBody>
      </p:sp>
      <p:sp>
        <p:nvSpPr>
          <p:cNvPr id="611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612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13" name="Code Block"/>
          <p:cNvSpPr txBox="0"/>
          <p:nvPr/>
        </p:nvSpPr>
        <p:spPr>
          <a:xfrm>
            <a:off x="609600" y="1466850"/>
            <a:ext cx="3371850" cy="1295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614" name="Text"/>
          <p:cNvSpPr txBox="1"/>
          <p:nvPr/>
        </p:nvSpPr>
        <p:spPr>
          <a:xfrm>
            <a:off x="781050" y="1600200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增量写入</a:t>
            </a:r>
          </a:p>
        </p:txBody>
      </p:sp>
      <p:sp>
        <p:nvSpPr>
          <p:cNvPr id="615" name="Text"/>
          <p:cNvSpPr txBox="1"/>
          <p:nvPr/>
        </p:nvSpPr>
        <p:spPr>
          <a:xfrm>
            <a:off x="781050" y="1885950"/>
            <a:ext cx="302895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-- Flink 增量写入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INSERT INTO hive_catalog.telecom.cell_kpi_1min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ts, cell_id, province, city,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     availability, traffic_mb, prb_util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kafka_cell_kpi_delta;</a:t>
            </a:r>
          </a:p>
        </p:txBody>
      </p:sp>
      <p:sp>
        <p:nvSpPr>
          <p:cNvPr id="616" name="Code Block"/>
          <p:cNvSpPr txBox="0"/>
          <p:nvPr/>
        </p:nvSpPr>
        <p:spPr>
          <a:xfrm>
            <a:off x="4419600" y="1466850"/>
            <a:ext cx="3371850" cy="1295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617" name="Text"/>
          <p:cNvSpPr txBox="1"/>
          <p:nvPr/>
        </p:nvSpPr>
        <p:spPr>
          <a:xfrm>
            <a:off x="4591050" y="1600200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历史版本</a:t>
            </a:r>
          </a:p>
        </p:txBody>
      </p:sp>
      <p:sp>
        <p:nvSpPr>
          <p:cNvPr id="618" name="Text"/>
          <p:cNvSpPr txBox="1"/>
          <p:nvPr/>
        </p:nvSpPr>
        <p:spPr>
          <a:xfrm>
            <a:off x="4591050" y="1885950"/>
            <a:ext cx="302895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-- Time Travel 复现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count(*)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prod.telecom.cell_kpi_1min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VERSION AS OF 10963874102873;</a:t>
            </a:r>
          </a:p>
        </p:txBody>
      </p:sp>
      <p:sp>
        <p:nvSpPr>
          <p:cNvPr id="619" name="Code Block"/>
          <p:cNvSpPr txBox="0"/>
          <p:nvPr/>
        </p:nvSpPr>
        <p:spPr>
          <a:xfrm>
            <a:off x="8229600" y="1466850"/>
            <a:ext cx="3371850" cy="12954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620" name="Text"/>
          <p:cNvSpPr txBox="1"/>
          <p:nvPr/>
        </p:nvSpPr>
        <p:spPr>
          <a:xfrm>
            <a:off x="8401050" y="1600200"/>
            <a:ext cx="30289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50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文件与分区</a:t>
            </a:r>
          </a:p>
        </p:txBody>
      </p:sp>
      <p:sp>
        <p:nvSpPr>
          <p:cNvPr id="621" name="Text"/>
          <p:cNvSpPr txBox="1"/>
          <p:nvPr/>
        </p:nvSpPr>
        <p:spPr>
          <a:xfrm>
            <a:off x="8401050" y="1885950"/>
            <a:ext cx="302895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-- 元数据巡检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SELECT partition, file_count,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       total_data_file_size_in_bytes</a:t>
            </a:r>
          </a:p>
          <a:p>
            <a:pPr algn="l">
              <a:buNone/>
            </a:pPr>
            <a:r>
              <a:rPr lang="zh-CN" sz="1350">
                <a:solidFill>
                  <a:srgbClr val="E5E7EB"/>
                </a:solidFill>
                <a:latin typeface="Consolas"/>
                <a:ea typeface="Microsoft YaHei"/>
                <a:cs typeface="Microsoft YaHei"/>
              </a:rPr>
              <a:t>FROM prod.telecom.cell_kpi_1min$partitions;</a:t>
            </a:r>
          </a:p>
        </p:txBody>
      </p:sp>
      <p:sp>
        <p:nvSpPr>
          <p:cNvPr id="622" name="Card"/>
          <p:cNvSpPr txBox="0"/>
          <p:nvPr/>
        </p:nvSpPr>
        <p:spPr>
          <a:xfrm>
            <a:off x="704850" y="3276600"/>
            <a:ext cx="3143250" cy="13525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623" name="Accent"/>
          <p:cNvSpPr txBox="0"/>
          <p:nvPr/>
        </p:nvSpPr>
        <p:spPr>
          <a:xfrm>
            <a:off x="704850" y="3276600"/>
            <a:ext cx="57150" cy="13525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24" name="Text"/>
          <p:cNvSpPr txBox="1"/>
          <p:nvPr/>
        </p:nvSpPr>
        <p:spPr>
          <a:xfrm>
            <a:off x="895350" y="3448050"/>
            <a:ext cx="27813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维护动作</a:t>
            </a:r>
          </a:p>
        </p:txBody>
      </p:sp>
      <p:sp>
        <p:nvSpPr>
          <p:cNvPr id="625" name="Text"/>
          <p:cNvSpPr txBox="1"/>
          <p:nvPr/>
        </p:nvSpPr>
        <p:spPr>
          <a:xfrm>
            <a:off x="895350" y="3810000"/>
            <a:ext cx="27622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rewrite_data_files 合并小文件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expire_snapshots 控制历史窗口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remove_orphan_files 先 dry-run 再清理</a:t>
            </a:r>
          </a:p>
        </p:txBody>
      </p:sp>
      <p:sp>
        <p:nvSpPr>
          <p:cNvPr id="626" name="Card"/>
          <p:cNvSpPr txBox="0"/>
          <p:nvPr/>
        </p:nvSpPr>
        <p:spPr>
          <a:xfrm>
            <a:off x="4514850" y="3276600"/>
            <a:ext cx="3143250" cy="13525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627" name="Accent"/>
          <p:cNvSpPr txBox="0"/>
          <p:nvPr/>
        </p:nvSpPr>
        <p:spPr>
          <a:xfrm>
            <a:off x="4514850" y="3276600"/>
            <a:ext cx="57150" cy="13525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28" name="Text"/>
          <p:cNvSpPr txBox="1"/>
          <p:nvPr/>
        </p:nvSpPr>
        <p:spPr>
          <a:xfrm>
            <a:off x="4705350" y="3448050"/>
            <a:ext cx="27813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跨引擎查询</a:t>
            </a:r>
          </a:p>
        </p:txBody>
      </p:sp>
      <p:sp>
        <p:nvSpPr>
          <p:cNvPr id="629" name="Text"/>
          <p:cNvSpPr txBox="1"/>
          <p:nvPr/>
        </p:nvSpPr>
        <p:spPr>
          <a:xfrm>
            <a:off x="4705350" y="3810000"/>
            <a:ext cx="27622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Spark 负责建表和维护过程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Flink 负责持续写入和增量读取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Trino/StarRocks 负责交互式分析</a:t>
            </a:r>
          </a:p>
        </p:txBody>
      </p:sp>
      <p:sp>
        <p:nvSpPr>
          <p:cNvPr id="630" name="Card"/>
          <p:cNvSpPr txBox="0"/>
          <p:nvPr/>
        </p:nvSpPr>
        <p:spPr>
          <a:xfrm>
            <a:off x="8324850" y="3276600"/>
            <a:ext cx="3143250" cy="13525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631" name="Accent"/>
          <p:cNvSpPr txBox="0"/>
          <p:nvPr/>
        </p:nvSpPr>
        <p:spPr>
          <a:xfrm>
            <a:off x="8324850" y="3276600"/>
            <a:ext cx="57150" cy="135255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32" name="Text"/>
          <p:cNvSpPr txBox="1"/>
          <p:nvPr/>
        </p:nvSpPr>
        <p:spPr>
          <a:xfrm>
            <a:off x="8515350" y="3448050"/>
            <a:ext cx="27813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验收输出</a:t>
            </a:r>
          </a:p>
        </p:txBody>
      </p:sp>
      <p:sp>
        <p:nvSpPr>
          <p:cNvPr id="633" name="Text"/>
          <p:cNvSpPr txBox="1"/>
          <p:nvPr/>
        </p:nvSpPr>
        <p:spPr>
          <a:xfrm>
            <a:off x="8515350" y="3810000"/>
            <a:ext cx="276225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同一 snapshot 下各引擎结果一致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小文件数量和空间增长可解释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故障写入不会污染当前表</a:t>
            </a:r>
          </a:p>
        </p:txBody>
      </p:sp>
      <p:sp>
        <p:nvSpPr>
          <p:cNvPr id="634" name="Text"/>
          <p:cNvSpPr txBox="1"/>
          <p:nvPr/>
        </p:nvSpPr>
        <p:spPr>
          <a:xfrm>
            <a:off x="990600" y="5391150"/>
            <a:ext cx="102108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建议最终产物：一份表级 PoC 报告，包含 DDL、导入版本、增量作业、维护记录、跨引擎 SQL 和问题清单。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PoC 第三段：跨引擎查询要绑定同一个 Catalog 和同一个快照</a:t>
            </a:r>
          </a:p>
        </p:txBody>
      </p:sp>
      <p:sp>
        <p:nvSpPr>
          <p:cNvPr id="636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只有共享 Catalog、统一权限和明确 snapshot，跨引擎结果才有可比较性。</a:t>
            </a:r>
          </a:p>
        </p:txBody>
      </p:sp>
      <p:sp>
        <p:nvSpPr>
          <p:cNvPr id="637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638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39" name="Table Cell"/>
          <p:cNvSpPr txBox="0"/>
          <p:nvPr/>
        </p:nvSpPr>
        <p:spPr>
          <a:xfrm>
            <a:off x="742950" y="1581150"/>
            <a:ext cx="20002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640" name="Text"/>
          <p:cNvSpPr txBox="1"/>
          <p:nvPr/>
        </p:nvSpPr>
        <p:spPr>
          <a:xfrm>
            <a:off x="838200" y="166687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引擎</a:t>
            </a:r>
          </a:p>
        </p:txBody>
      </p:sp>
      <p:sp>
        <p:nvSpPr>
          <p:cNvPr id="641" name="Table Cell"/>
          <p:cNvSpPr txBox="0"/>
          <p:nvPr/>
        </p:nvSpPr>
        <p:spPr>
          <a:xfrm>
            <a:off x="2743200" y="1581150"/>
            <a:ext cx="31432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642" name="Text"/>
          <p:cNvSpPr txBox="1"/>
          <p:nvPr/>
        </p:nvSpPr>
        <p:spPr>
          <a:xfrm>
            <a:off x="2838450" y="166687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建议职责</a:t>
            </a:r>
          </a:p>
        </p:txBody>
      </p:sp>
      <p:sp>
        <p:nvSpPr>
          <p:cNvPr id="643" name="Table Cell"/>
          <p:cNvSpPr txBox="0"/>
          <p:nvPr/>
        </p:nvSpPr>
        <p:spPr>
          <a:xfrm>
            <a:off x="5886450" y="1581150"/>
            <a:ext cx="27622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644" name="Text"/>
          <p:cNvSpPr txBox="1"/>
          <p:nvPr/>
        </p:nvSpPr>
        <p:spPr>
          <a:xfrm>
            <a:off x="5981700" y="166687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示例动作</a:t>
            </a:r>
          </a:p>
        </p:txBody>
      </p:sp>
      <p:sp>
        <p:nvSpPr>
          <p:cNvPr id="645" name="Table Cell"/>
          <p:cNvSpPr txBox="0"/>
          <p:nvPr/>
        </p:nvSpPr>
        <p:spPr>
          <a:xfrm>
            <a:off x="8648700" y="1581150"/>
            <a:ext cx="2762250" cy="552450"/>
          </a:xfrm>
          <a:prstGeom prst="rect">
            <a:avLst/>
          </a:prstGeom>
          <a:solidFill>
            <a:srgbClr val="111111"/>
          </a:solidFill>
          <a:ln w="5000">
            <a:solidFill>
              <a:srgbClr val="D1D5DB"/>
            </a:solidFill>
          </a:ln>
        </p:spPr>
      </p:sp>
      <p:sp>
        <p:nvSpPr>
          <p:cNvPr id="646" name="Text"/>
          <p:cNvSpPr txBox="1"/>
          <p:nvPr/>
        </p:nvSpPr>
        <p:spPr>
          <a:xfrm>
            <a:off x="8743950" y="166687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验收点</a:t>
            </a:r>
          </a:p>
        </p:txBody>
      </p:sp>
      <p:sp>
        <p:nvSpPr>
          <p:cNvPr id="647" name="Table Cell"/>
          <p:cNvSpPr txBox="0"/>
          <p:nvPr/>
        </p:nvSpPr>
        <p:spPr>
          <a:xfrm>
            <a:off x="742950" y="2133600"/>
            <a:ext cx="2000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48" name="Text"/>
          <p:cNvSpPr txBox="1"/>
          <p:nvPr/>
        </p:nvSpPr>
        <p:spPr>
          <a:xfrm>
            <a:off x="838200" y="221932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Spark</a:t>
            </a:r>
          </a:p>
        </p:txBody>
      </p:sp>
      <p:sp>
        <p:nvSpPr>
          <p:cNvPr id="649" name="Table Cell"/>
          <p:cNvSpPr txBox="0"/>
          <p:nvPr/>
        </p:nvSpPr>
        <p:spPr>
          <a:xfrm>
            <a:off x="2743200" y="2133600"/>
            <a:ext cx="3143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50" name="Text"/>
          <p:cNvSpPr txBox="1"/>
          <p:nvPr/>
        </p:nvSpPr>
        <p:spPr>
          <a:xfrm>
            <a:off x="2838450" y="221932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建表、批量导入、维护过程</a:t>
            </a:r>
          </a:p>
        </p:txBody>
      </p:sp>
      <p:sp>
        <p:nvSpPr>
          <p:cNvPr id="651" name="Table Cell"/>
          <p:cNvSpPr txBox="0"/>
          <p:nvPr/>
        </p:nvSpPr>
        <p:spPr>
          <a:xfrm>
            <a:off x="5886450" y="2133600"/>
            <a:ext cx="2762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52" name="Text"/>
          <p:cNvSpPr txBox="1"/>
          <p:nvPr/>
        </p:nvSpPr>
        <p:spPr>
          <a:xfrm>
            <a:off x="5981700" y="221932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CREATE TABLE / CALL procedures</a:t>
            </a:r>
          </a:p>
        </p:txBody>
      </p:sp>
      <p:sp>
        <p:nvSpPr>
          <p:cNvPr id="653" name="Table Cell"/>
          <p:cNvSpPr txBox="0"/>
          <p:nvPr/>
        </p:nvSpPr>
        <p:spPr>
          <a:xfrm>
            <a:off x="8648700" y="2133600"/>
            <a:ext cx="2762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54" name="Text"/>
          <p:cNvSpPr txBox="1"/>
          <p:nvPr/>
        </p:nvSpPr>
        <p:spPr>
          <a:xfrm>
            <a:off x="8743950" y="221932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DDL 和维护记录可复现</a:t>
            </a:r>
          </a:p>
        </p:txBody>
      </p:sp>
      <p:sp>
        <p:nvSpPr>
          <p:cNvPr id="655" name="Table Cell"/>
          <p:cNvSpPr txBox="0"/>
          <p:nvPr/>
        </p:nvSpPr>
        <p:spPr>
          <a:xfrm>
            <a:off x="742950" y="2686050"/>
            <a:ext cx="2000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56" name="Text"/>
          <p:cNvSpPr txBox="1"/>
          <p:nvPr/>
        </p:nvSpPr>
        <p:spPr>
          <a:xfrm>
            <a:off x="838200" y="277177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Flink</a:t>
            </a:r>
          </a:p>
        </p:txBody>
      </p:sp>
      <p:sp>
        <p:nvSpPr>
          <p:cNvPr id="657" name="Table Cell"/>
          <p:cNvSpPr txBox="0"/>
          <p:nvPr/>
        </p:nvSpPr>
        <p:spPr>
          <a:xfrm>
            <a:off x="2743200" y="2686050"/>
            <a:ext cx="3143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58" name="Text"/>
          <p:cNvSpPr txBox="1"/>
          <p:nvPr/>
        </p:nvSpPr>
        <p:spPr>
          <a:xfrm>
            <a:off x="2838450" y="277177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持续写入、增量消费</a:t>
            </a:r>
          </a:p>
        </p:txBody>
      </p:sp>
      <p:sp>
        <p:nvSpPr>
          <p:cNvPr id="659" name="Table Cell"/>
          <p:cNvSpPr txBox="0"/>
          <p:nvPr/>
        </p:nvSpPr>
        <p:spPr>
          <a:xfrm>
            <a:off x="5886450" y="2686050"/>
            <a:ext cx="2762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60" name="Text"/>
          <p:cNvSpPr txBox="1"/>
          <p:nvPr/>
        </p:nvSpPr>
        <p:spPr>
          <a:xfrm>
            <a:off x="5981700" y="277177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INSERT INTO / streaming read</a:t>
            </a:r>
          </a:p>
        </p:txBody>
      </p:sp>
      <p:sp>
        <p:nvSpPr>
          <p:cNvPr id="661" name="Table Cell"/>
          <p:cNvSpPr txBox="0"/>
          <p:nvPr/>
        </p:nvSpPr>
        <p:spPr>
          <a:xfrm>
            <a:off x="8648700" y="2686050"/>
            <a:ext cx="2762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62" name="Text"/>
          <p:cNvSpPr txBox="1"/>
          <p:nvPr/>
        </p:nvSpPr>
        <p:spPr>
          <a:xfrm>
            <a:off x="8743950" y="277177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checkpoint 后 exactly-once</a:t>
            </a:r>
          </a:p>
        </p:txBody>
      </p:sp>
      <p:sp>
        <p:nvSpPr>
          <p:cNvPr id="663" name="Table Cell"/>
          <p:cNvSpPr txBox="0"/>
          <p:nvPr/>
        </p:nvSpPr>
        <p:spPr>
          <a:xfrm>
            <a:off x="742950" y="3238500"/>
            <a:ext cx="2000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64" name="Text"/>
          <p:cNvSpPr txBox="1"/>
          <p:nvPr/>
        </p:nvSpPr>
        <p:spPr>
          <a:xfrm>
            <a:off x="838200" y="332422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Trino</a:t>
            </a:r>
          </a:p>
        </p:txBody>
      </p:sp>
      <p:sp>
        <p:nvSpPr>
          <p:cNvPr id="665" name="Table Cell"/>
          <p:cNvSpPr txBox="0"/>
          <p:nvPr/>
        </p:nvSpPr>
        <p:spPr>
          <a:xfrm>
            <a:off x="2743200" y="3238500"/>
            <a:ext cx="3143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66" name="Text"/>
          <p:cNvSpPr txBox="1"/>
          <p:nvPr/>
        </p:nvSpPr>
        <p:spPr>
          <a:xfrm>
            <a:off x="2838450" y="332422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分析查询和对账</a:t>
            </a:r>
          </a:p>
        </p:txBody>
      </p:sp>
      <p:sp>
        <p:nvSpPr>
          <p:cNvPr id="667" name="Table Cell"/>
          <p:cNvSpPr txBox="0"/>
          <p:nvPr/>
        </p:nvSpPr>
        <p:spPr>
          <a:xfrm>
            <a:off x="5886450" y="3238500"/>
            <a:ext cx="2762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68" name="Text"/>
          <p:cNvSpPr txBox="1"/>
          <p:nvPr/>
        </p:nvSpPr>
        <p:spPr>
          <a:xfrm>
            <a:off x="5981700" y="332422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SELECT count / group by</a:t>
            </a:r>
          </a:p>
        </p:txBody>
      </p:sp>
      <p:sp>
        <p:nvSpPr>
          <p:cNvPr id="669" name="Table Cell"/>
          <p:cNvSpPr txBox="0"/>
          <p:nvPr/>
        </p:nvSpPr>
        <p:spPr>
          <a:xfrm>
            <a:off x="8648700" y="3238500"/>
            <a:ext cx="2762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70" name="Text"/>
          <p:cNvSpPr txBox="1"/>
          <p:nvPr/>
        </p:nvSpPr>
        <p:spPr>
          <a:xfrm>
            <a:off x="8743950" y="332422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 snapshot 结果一致</a:t>
            </a:r>
          </a:p>
        </p:txBody>
      </p:sp>
      <p:sp>
        <p:nvSpPr>
          <p:cNvPr id="671" name="Table Cell"/>
          <p:cNvSpPr txBox="0"/>
          <p:nvPr/>
        </p:nvSpPr>
        <p:spPr>
          <a:xfrm>
            <a:off x="742950" y="3790950"/>
            <a:ext cx="2000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72" name="Text"/>
          <p:cNvSpPr txBox="1"/>
          <p:nvPr/>
        </p:nvSpPr>
        <p:spPr>
          <a:xfrm>
            <a:off x="838200" y="3876675"/>
            <a:ext cx="180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StarRocks</a:t>
            </a:r>
          </a:p>
        </p:txBody>
      </p:sp>
      <p:sp>
        <p:nvSpPr>
          <p:cNvPr id="673" name="Table Cell"/>
          <p:cNvSpPr txBox="0"/>
          <p:nvPr/>
        </p:nvSpPr>
        <p:spPr>
          <a:xfrm>
            <a:off x="2743200" y="3790950"/>
            <a:ext cx="3143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74" name="Text"/>
          <p:cNvSpPr txBox="1"/>
          <p:nvPr/>
        </p:nvSpPr>
        <p:spPr>
          <a:xfrm>
            <a:off x="2838450" y="3876675"/>
            <a:ext cx="2952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交互式服务化查询</a:t>
            </a:r>
          </a:p>
        </p:txBody>
      </p:sp>
      <p:sp>
        <p:nvSpPr>
          <p:cNvPr id="675" name="Table Cell"/>
          <p:cNvSpPr txBox="0"/>
          <p:nvPr/>
        </p:nvSpPr>
        <p:spPr>
          <a:xfrm>
            <a:off x="5886450" y="3790950"/>
            <a:ext cx="2762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76" name="Text"/>
          <p:cNvSpPr txBox="1"/>
          <p:nvPr/>
        </p:nvSpPr>
        <p:spPr>
          <a:xfrm>
            <a:off x="5981700" y="387667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External Catalog 查询</a:t>
            </a:r>
          </a:p>
        </p:txBody>
      </p:sp>
      <p:sp>
        <p:nvSpPr>
          <p:cNvPr id="677" name="Table Cell"/>
          <p:cNvSpPr txBox="0"/>
          <p:nvPr/>
        </p:nvSpPr>
        <p:spPr>
          <a:xfrm>
            <a:off x="8648700" y="3790950"/>
            <a:ext cx="2762250" cy="552450"/>
          </a:xfrm>
          <a:prstGeom prst="rect">
            <a:avLst/>
          </a:prstGeom>
          <a:solidFill>
            <a:srgbClr val="FFFFFF"/>
          </a:solidFill>
          <a:ln w="5000">
            <a:solidFill>
              <a:srgbClr val="D1D5DB"/>
            </a:solidFill>
          </a:ln>
        </p:spPr>
      </p:sp>
      <p:sp>
        <p:nvSpPr>
          <p:cNvPr id="678" name="Text"/>
          <p:cNvSpPr txBox="1"/>
          <p:nvPr/>
        </p:nvSpPr>
        <p:spPr>
          <a:xfrm>
            <a:off x="8743950" y="3876675"/>
            <a:ext cx="2571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3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延迟和扫描量符合预期</a:t>
            </a:r>
          </a:p>
        </p:txBody>
      </p:sp>
      <p:sp>
        <p:nvSpPr>
          <p:cNvPr id="679" name="Text"/>
          <p:cNvSpPr txBox="1"/>
          <p:nvPr/>
        </p:nvSpPr>
        <p:spPr>
          <a:xfrm>
            <a:off x="1123950" y="5505450"/>
            <a:ext cx="9906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20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关键纪律：所有引擎都通过 Iceberg Catalog 访问表；禁止直接读写表目录来“临时绕一下”。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lide Title"/>
          <p:cNvSpPr txBox="1"/>
          <p:nvPr/>
        </p:nvSpPr>
        <p:spPr>
          <a:xfrm>
            <a:off x="609600" y="400050"/>
            <a:ext cx="8953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3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三句话记住 Iceberg</a:t>
            </a:r>
          </a:p>
        </p:txBody>
      </p:sp>
      <p:sp>
        <p:nvSpPr>
          <p:cNvPr id="681" name="Slide Subtitle"/>
          <p:cNvSpPr txBox="1"/>
          <p:nvPr/>
        </p:nvSpPr>
        <p:spPr>
          <a:xfrm>
            <a:off x="628650" y="876300"/>
            <a:ext cx="9144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后续可以把本材料拆成建表规范、运维规范和引擎接入规范三份实践文档。</a:t>
            </a:r>
          </a:p>
        </p:txBody>
      </p:sp>
      <p:sp>
        <p:nvSpPr>
          <p:cNvPr id="682" name="Rule"/>
          <p:cNvSpPr txBox="0"/>
          <p:nvPr/>
        </p:nvSpPr>
        <p:spPr>
          <a:xfrm>
            <a:off x="609600" y="1171575"/>
            <a:ext cx="10972800" cy="12383"/>
          </a:xfrm>
          <a:prstGeom prst="rect">
            <a:avLst/>
          </a:prstGeom>
          <a:solidFill>
            <a:srgbClr val="D1D5DB"/>
          </a:solidFill>
          <a:ln>
            <a:noFill/>
          </a:ln>
        </p:spPr>
      </p:sp>
      <p:sp>
        <p:nvSpPr>
          <p:cNvPr id="683" name="Page Number"/>
          <p:cNvSpPr txBox="1"/>
          <p:nvPr/>
        </p:nvSpPr>
        <p:spPr>
          <a:xfrm>
            <a:off x="11049000" y="6343650"/>
            <a:ext cx="5334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84" name="Card"/>
          <p:cNvSpPr txBox="0"/>
          <p:nvPr/>
        </p:nvSpPr>
        <p:spPr>
          <a:xfrm>
            <a:off x="838200" y="1600200"/>
            <a:ext cx="3238500" cy="20383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685" name="Accent"/>
          <p:cNvSpPr txBox="0"/>
          <p:nvPr/>
        </p:nvSpPr>
        <p:spPr>
          <a:xfrm>
            <a:off x="838200" y="1600200"/>
            <a:ext cx="57150" cy="20383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86" name="Text"/>
          <p:cNvSpPr txBox="1"/>
          <p:nvPr/>
        </p:nvSpPr>
        <p:spPr>
          <a:xfrm>
            <a:off x="1028700" y="1771650"/>
            <a:ext cx="2876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第一句</a:t>
            </a:r>
          </a:p>
        </p:txBody>
      </p:sp>
      <p:sp>
        <p:nvSpPr>
          <p:cNvPr id="687" name="Text"/>
          <p:cNvSpPr txBox="1"/>
          <p:nvPr/>
        </p:nvSpPr>
        <p:spPr>
          <a:xfrm>
            <a:off x="1028700" y="2133600"/>
            <a:ext cx="28575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Iceberg 是开放表格式，不是计算引擎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它让文件湖具备表级元数据和版本语义</a:t>
            </a:r>
          </a:p>
        </p:txBody>
      </p:sp>
      <p:sp>
        <p:nvSpPr>
          <p:cNvPr id="688" name="Card"/>
          <p:cNvSpPr txBox="0"/>
          <p:nvPr/>
        </p:nvSpPr>
        <p:spPr>
          <a:xfrm>
            <a:off x="4476750" y="1600200"/>
            <a:ext cx="3238500" cy="20383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689" name="Accent"/>
          <p:cNvSpPr txBox="0"/>
          <p:nvPr/>
        </p:nvSpPr>
        <p:spPr>
          <a:xfrm>
            <a:off x="4476750" y="1600200"/>
            <a:ext cx="57150" cy="2038350"/>
          </a:xfrm>
          <a:prstGeom prst="rect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90" name="Text"/>
          <p:cNvSpPr txBox="1"/>
          <p:nvPr/>
        </p:nvSpPr>
        <p:spPr>
          <a:xfrm>
            <a:off x="4667250" y="1771650"/>
            <a:ext cx="2876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第二句</a:t>
            </a:r>
          </a:p>
        </p:txBody>
      </p:sp>
      <p:sp>
        <p:nvSpPr>
          <p:cNvPr id="691" name="Text"/>
          <p:cNvSpPr txBox="1"/>
          <p:nvPr/>
        </p:nvSpPr>
        <p:spPr>
          <a:xfrm>
            <a:off x="4667250" y="2133600"/>
            <a:ext cx="28575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快照、ACID、隐藏分区和演进能力，是它支撑湖仓生产化的核心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这些能力依赖正确 Catalog 和写入路径</a:t>
            </a:r>
          </a:p>
        </p:txBody>
      </p:sp>
      <p:sp>
        <p:nvSpPr>
          <p:cNvPr id="692" name="Card"/>
          <p:cNvSpPr txBox="0"/>
          <p:nvPr/>
        </p:nvSpPr>
        <p:spPr>
          <a:xfrm>
            <a:off x="8115300" y="1600200"/>
            <a:ext cx="3238500" cy="2038350"/>
          </a:xfrm>
          <a:prstGeom prst="rect">
            <a:avLst/>
          </a:prstGeom>
          <a:solidFill>
            <a:srgbClr val="F8FAFC"/>
          </a:solidFill>
          <a:ln w="7000">
            <a:solidFill>
              <a:srgbClr val="D1D5DB"/>
            </a:solidFill>
          </a:ln>
        </p:spPr>
      </p:sp>
      <p:sp>
        <p:nvSpPr>
          <p:cNvPr id="693" name="Accent"/>
          <p:cNvSpPr txBox="0"/>
          <p:nvPr/>
        </p:nvSpPr>
        <p:spPr>
          <a:xfrm>
            <a:off x="8115300" y="1600200"/>
            <a:ext cx="57150" cy="203835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694" name="Text"/>
          <p:cNvSpPr txBox="1"/>
          <p:nvPr/>
        </p:nvSpPr>
        <p:spPr>
          <a:xfrm>
            <a:off x="8305800" y="1771650"/>
            <a:ext cx="28765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第三句</a:t>
            </a:r>
          </a:p>
        </p:txBody>
      </p:sp>
      <p:sp>
        <p:nvSpPr>
          <p:cNvPr id="695" name="Text"/>
          <p:cNvSpPr txBox="1"/>
          <p:nvPr/>
        </p:nvSpPr>
        <p:spPr>
          <a:xfrm>
            <a:off x="8305800" y="2133600"/>
            <a:ext cx="28575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性能来自“少读文件”</a:t>
            </a:r>
          </a:p>
          <a:p>
            <a:pPr algn="l" marL="240000" indent="-150000">
              <a:buFont typeface="Arial"/>
              <a:buChar char="•"/>
            </a:pPr>
            <a:r>
              <a:rPr lang="zh-CN" sz="16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要通过分区、文件大小、排序和维护任务持续保障</a:t>
            </a:r>
          </a:p>
        </p:txBody>
      </p:sp>
      <p:sp>
        <p:nvSpPr>
          <p:cNvPr id="696" name="Rect"/>
          <p:cNvSpPr txBox="0"/>
          <p:nvPr/>
        </p:nvSpPr>
        <p:spPr>
          <a:xfrm>
            <a:off x="1047750" y="4267200"/>
            <a:ext cx="10096500" cy="933450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</a:ln>
        </p:spPr>
      </p:sp>
      <p:sp>
        <p:nvSpPr>
          <p:cNvPr id="697" name="Text"/>
          <p:cNvSpPr txBox="1"/>
          <p:nvPr/>
        </p:nvSpPr>
        <p:spPr>
          <a:xfrm>
            <a:off x="1333500" y="4476750"/>
            <a:ext cx="9525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2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建议下一步</a:t>
            </a:r>
          </a:p>
        </p:txBody>
      </p:sp>
      <p:sp>
        <p:nvSpPr>
          <p:cNvPr id="698" name="Text"/>
          <p:cNvSpPr txBox="1"/>
          <p:nvPr/>
        </p:nvSpPr>
        <p:spPr>
          <a:xfrm>
            <a:off x="1333500" y="4857750"/>
            <a:ext cx="9525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zh-CN" sz="185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选 1-2 张真实业务表做 PoC：建表、批量导入、增量 Merge、Time Travel、维护任务、跨引擎查询。</a:t>
            </a:r>
          </a:p>
        </p:txBody>
      </p:sp>
      <p:sp>
        <p:nvSpPr>
          <p:cNvPr id="699" name="Text"/>
          <p:cNvSpPr txBox="1"/>
          <p:nvPr/>
        </p:nvSpPr>
        <p:spPr>
          <a:xfrm>
            <a:off x="990600" y="59626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">
              <a:buNone/>
            </a:pPr>
            <a:r>
              <a:rPr lang="zh-CN" sz="135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主要参考：Apache Iceberg 官方文档 1.11.x（Specification、Spark DDL/Queries/Writes/Procedures、Maintenance、Evolution、Partitioning）。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Grid">
  <a:themeElements>
    <a:clrScheme name="Office">
      <a:dk1>
        <a:srgbClr val="111111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0891B2"/>
      </a:accent5>
      <a:accent6>
        <a:srgbClr val="DC2626"/>
      </a:accent6>
      <a:hlink>
        <a:srgbClr val="2563EB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27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Iceberg 能力与使用入门</dc:title>
  <dc:creator>Codex</dc:creator>
  <cp:lastModifiedBy>Codex</cp:lastModifiedBy>
  <dcterms:created xsi:type="dcterms:W3CDTF">2026-07-10T02:37:15.911Z</dcterms:created>
  <dcterms:modified xsi:type="dcterms:W3CDTF">2026-07-10T02:37:15.911Z</dcterms:modified>
</cp:coreProperties>
</file>